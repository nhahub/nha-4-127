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embeddedFontLst>
    <p:embeddedFont>
      <p:font typeface="Bangers" pitchFamily="2" charset="0"/>
      <p:regular r:id="rId14"/>
    </p:embeddedFont>
    <p:embeddedFont>
      <p:font typeface="Barlow" panose="00000500000000000000" pitchFamily="2" charset="0"/>
      <p:regular r:id="rId15"/>
    </p:embeddedFont>
    <p:embeddedFont>
      <p:font typeface="Barlow Bold" panose="020B0604020202020204" charset="0"/>
      <p:regular r:id="rId16"/>
    </p:embeddedFont>
    <p:embeddedFont>
      <p:font typeface="Spline Sans Bold" panose="020B0604020202020204"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C9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4" d="100"/>
          <a:sy n="154" d="100"/>
        </p:scale>
        <p:origin x="38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4065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A081B">
              <a:alpha val="7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jpe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6.png"/><Relationship Id="rId3" Type="http://schemas.openxmlformats.org/officeDocument/2006/relationships/image" Target="../media/image17.svg"/><Relationship Id="rId7" Type="http://schemas.openxmlformats.org/officeDocument/2006/relationships/image" Target="../media/image21.svg"/><Relationship Id="rId12" Type="http://schemas.openxmlformats.org/officeDocument/2006/relationships/image" Target="../media/image26.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0.svg"/><Relationship Id="rId11" Type="http://schemas.openxmlformats.org/officeDocument/2006/relationships/image" Target="../media/image25.svg"/><Relationship Id="rId5" Type="http://schemas.openxmlformats.org/officeDocument/2006/relationships/image" Target="../media/image19.sv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sv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8.sv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3.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550664" y="1645444"/>
            <a:ext cx="4613672" cy="764977"/>
          </a:xfrm>
          <a:prstGeom prst="rect">
            <a:avLst/>
          </a:prstGeom>
          <a:noFill/>
          <a:ln/>
        </p:spPr>
        <p:txBody>
          <a:bodyPr wrap="square" lIns="0" tIns="0" rIns="0" bIns="0" rtlCol="0" anchor="t">
            <a:normAutofit/>
          </a:bodyPr>
          <a:lstStyle/>
          <a:p>
            <a:pPr marL="0" indent="0" algn="l">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Sales Performance Analysis — AdventureWorks2019</a:t>
            </a:r>
            <a:endParaRPr lang="en-US" sz="2400" dirty="0"/>
          </a:p>
        </p:txBody>
      </p:sp>
      <p:sp>
        <p:nvSpPr>
          <p:cNvPr id="4" name="Text 1"/>
          <p:cNvSpPr/>
          <p:nvPr/>
        </p:nvSpPr>
        <p:spPr>
          <a:xfrm>
            <a:off x="550664" y="2616919"/>
            <a:ext cx="4613672" cy="881063"/>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This project delivers an interactive single-page Power BI dashboard built on the AdventureWorks2019 database. It transforms raw sales data into actionable insights using SQL, Power Query, DAX, and bookmark navigation to explore Sales, Quantity, and Profit views seamlessly.</a:t>
            </a:r>
            <a:endParaRPr lang="en-US" sz="1050" dirty="0"/>
          </a:p>
        </p:txBody>
      </p:sp>
      <p:pic>
        <p:nvPicPr>
          <p:cNvPr id="8" name="Picture 7">
            <a:extLst>
              <a:ext uri="{FF2B5EF4-FFF2-40B4-BE49-F238E27FC236}">
                <a16:creationId xmlns:a16="http://schemas.microsoft.com/office/drawing/2014/main" id="{9348734E-659A-11AF-7170-A73ED0E3EAF3}"/>
              </a:ext>
            </a:extLst>
          </p:cNvPr>
          <p:cNvPicPr>
            <a:picLocks noChangeAspect="1"/>
          </p:cNvPicPr>
          <p:nvPr/>
        </p:nvPicPr>
        <p:blipFill>
          <a:blip r:embed="rId3"/>
          <a:stretch>
            <a:fillRect/>
          </a:stretch>
        </p:blipFill>
        <p:spPr>
          <a:xfrm>
            <a:off x="5164336" y="0"/>
            <a:ext cx="3979664"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550664" y="1726555"/>
            <a:ext cx="4613672" cy="382488"/>
          </a:xfrm>
          <a:prstGeom prst="rect">
            <a:avLst/>
          </a:prstGeom>
          <a:noFill/>
          <a:ln/>
        </p:spPr>
        <p:txBody>
          <a:bodyPr wrap="none" lIns="0" tIns="0" rIns="0" bIns="0" rtlCol="0" anchor="t"/>
          <a:lstStyle/>
          <a:p>
            <a:pPr marL="0" indent="0" algn="l">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Overview</a:t>
            </a:r>
            <a:endParaRPr lang="en-US" sz="2400" dirty="0"/>
          </a:p>
        </p:txBody>
      </p:sp>
      <p:sp>
        <p:nvSpPr>
          <p:cNvPr id="4" name="Text 1"/>
          <p:cNvSpPr/>
          <p:nvPr/>
        </p:nvSpPr>
        <p:spPr>
          <a:xfrm>
            <a:off x="550664" y="2315542"/>
            <a:ext cx="4613672" cy="1101328"/>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This analysis uses AdventureWorks2019 to help stakeholders monitor business performance, identify trends, evaluate profitability, and make data-driven decisions. Data was extracted with SQL Server, transformed with Power Query, modeled in Power BI, and enhanced with DAX measures for interactive reporting.</a:t>
            </a:r>
            <a:endParaRPr lang="en-US" sz="1050" dirty="0"/>
          </a:p>
        </p:txBody>
      </p:sp>
      <p:pic>
        <p:nvPicPr>
          <p:cNvPr id="14" name="Picture 13">
            <a:extLst>
              <a:ext uri="{FF2B5EF4-FFF2-40B4-BE49-F238E27FC236}">
                <a16:creationId xmlns:a16="http://schemas.microsoft.com/office/drawing/2014/main" id="{FC8B4C81-1AC5-5D08-1270-BADDBB207BCF}"/>
              </a:ext>
            </a:extLst>
          </p:cNvPr>
          <p:cNvPicPr>
            <a:picLocks noChangeAspect="1"/>
          </p:cNvPicPr>
          <p:nvPr/>
        </p:nvPicPr>
        <p:blipFill>
          <a:blip r:embed="rId3"/>
          <a:stretch>
            <a:fillRect/>
          </a:stretch>
        </p:blipFill>
        <p:spPr>
          <a:xfrm>
            <a:off x="5164336" y="0"/>
            <a:ext cx="3979664"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79664" y="1726555"/>
            <a:ext cx="4613672" cy="382488"/>
          </a:xfrm>
          <a:prstGeom prst="rect">
            <a:avLst/>
          </a:prstGeom>
          <a:noFill/>
          <a:ln/>
        </p:spPr>
        <p:txBody>
          <a:bodyPr wrap="none" lIns="0" tIns="0" rIns="0" bIns="0" rtlCol="0" anchor="t"/>
          <a:lstStyle/>
          <a:p>
            <a:pPr marL="0" indent="0" algn="l">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Business Problem</a:t>
            </a:r>
            <a:endParaRPr lang="en-US" sz="2400" dirty="0"/>
          </a:p>
        </p:txBody>
      </p:sp>
      <p:sp>
        <p:nvSpPr>
          <p:cNvPr id="4" name="Text 1"/>
          <p:cNvSpPr/>
          <p:nvPr/>
        </p:nvSpPr>
        <p:spPr>
          <a:xfrm>
            <a:off x="3979664" y="2315542"/>
            <a:ext cx="4613672" cy="1101328"/>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Stakeholders lacked a centralized view of sales performance across multiple perspectives, requiring navigation across many reports. The goal: provide a single, interactive dashboard that clearly surfaces overall sales performance, profitability, quantity, product and regional performance, customer metrics, and monthly trends—so decisions can be made faster.</a:t>
            </a:r>
            <a:endParaRPr lang="en-US" sz="1050" dirty="0"/>
          </a:p>
        </p:txBody>
      </p:sp>
      <p:pic>
        <p:nvPicPr>
          <p:cNvPr id="6" name="Picture 5">
            <a:extLst>
              <a:ext uri="{FF2B5EF4-FFF2-40B4-BE49-F238E27FC236}">
                <a16:creationId xmlns:a16="http://schemas.microsoft.com/office/drawing/2014/main" id="{AB23A889-5530-344B-6662-D51D66D87F02}"/>
              </a:ext>
            </a:extLst>
          </p:cNvPr>
          <p:cNvPicPr>
            <a:picLocks noChangeAspect="1"/>
          </p:cNvPicPr>
          <p:nvPr/>
        </p:nvPicPr>
        <p:blipFill>
          <a:blip r:embed="rId4"/>
          <a:stretch>
            <a:fillRect/>
          </a:stretch>
        </p:blipFill>
        <p:spPr>
          <a:xfrm>
            <a:off x="6936867" y="4387813"/>
            <a:ext cx="2162477" cy="7335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50664" y="1060103"/>
            <a:ext cx="8042672" cy="382488"/>
          </a:xfrm>
          <a:prstGeom prst="rect">
            <a:avLst/>
          </a:prstGeom>
          <a:noFill/>
          <a:ln/>
        </p:spPr>
        <p:txBody>
          <a:bodyPr wrap="none" lIns="0" tIns="0" rIns="0" bIns="0" rtlCol="0" anchor="t"/>
          <a:lstStyle/>
          <a:p>
            <a:pPr marL="0" indent="0" algn="l">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Project Objectives</a:t>
            </a:r>
            <a:endParaRPr lang="en-US" sz="2400" dirty="0"/>
          </a:p>
        </p:txBody>
      </p:sp>
      <p:sp>
        <p:nvSpPr>
          <p:cNvPr id="3" name="Shape 1"/>
          <p:cNvSpPr/>
          <p:nvPr/>
        </p:nvSpPr>
        <p:spPr>
          <a:xfrm>
            <a:off x="550664" y="1717923"/>
            <a:ext cx="1907381" cy="1429792"/>
          </a:xfrm>
          <a:prstGeom prst="roundRect">
            <a:avLst>
              <a:gd name="adj" fmla="val 14445"/>
            </a:avLst>
          </a:prstGeom>
          <a:solidFill>
            <a:srgbClr val="0A081B"/>
          </a:solidFill>
          <a:ln w="14288">
            <a:solidFill>
              <a:srgbClr val="16FFBB"/>
            </a:solidFill>
            <a:prstDash val="solid"/>
          </a:ln>
        </p:spPr>
        <p:txBody>
          <a:bodyPr/>
          <a:lstStyle/>
          <a:p>
            <a:endParaRPr lang="en-US"/>
          </a:p>
        </p:txBody>
      </p:sp>
      <p:sp>
        <p:nvSpPr>
          <p:cNvPr id="4" name="Text 2"/>
          <p:cNvSpPr/>
          <p:nvPr/>
        </p:nvSpPr>
        <p:spPr>
          <a:xfrm>
            <a:off x="702618" y="1869877"/>
            <a:ext cx="1603474" cy="191244"/>
          </a:xfrm>
          <a:prstGeom prst="rect">
            <a:avLst/>
          </a:prstGeom>
          <a:noFill/>
          <a:ln/>
        </p:spPr>
        <p:txBody>
          <a:bodyPr wrap="none" lIns="0" tIns="0" rIns="0" bIns="0" rtlCol="0" anchor="t"/>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Analyze Sales</a:t>
            </a:r>
            <a:endParaRPr lang="en-US" sz="1200" dirty="0"/>
          </a:p>
        </p:txBody>
      </p:sp>
      <p:sp>
        <p:nvSpPr>
          <p:cNvPr id="5" name="Text 3"/>
          <p:cNvSpPr/>
          <p:nvPr/>
        </p:nvSpPr>
        <p:spPr>
          <a:xfrm>
            <a:off x="702618" y="2143720"/>
            <a:ext cx="1603474" cy="660797"/>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Measure total sales and trends to evaluate performance.</a:t>
            </a:r>
            <a:endParaRPr lang="en-US" sz="1050" dirty="0"/>
          </a:p>
        </p:txBody>
      </p:sp>
      <p:sp>
        <p:nvSpPr>
          <p:cNvPr id="6" name="Shape 4"/>
          <p:cNvSpPr/>
          <p:nvPr/>
        </p:nvSpPr>
        <p:spPr>
          <a:xfrm>
            <a:off x="2595711" y="1717923"/>
            <a:ext cx="1907456" cy="1429792"/>
          </a:xfrm>
          <a:prstGeom prst="roundRect">
            <a:avLst>
              <a:gd name="adj" fmla="val 14445"/>
            </a:avLst>
          </a:prstGeom>
          <a:solidFill>
            <a:srgbClr val="0A081B"/>
          </a:solidFill>
          <a:ln w="14288">
            <a:solidFill>
              <a:srgbClr val="29DDDA"/>
            </a:solidFill>
            <a:prstDash val="solid"/>
          </a:ln>
        </p:spPr>
        <p:txBody>
          <a:bodyPr/>
          <a:lstStyle/>
          <a:p>
            <a:endParaRPr lang="en-US"/>
          </a:p>
        </p:txBody>
      </p:sp>
      <p:sp>
        <p:nvSpPr>
          <p:cNvPr id="7" name="Text 5"/>
          <p:cNvSpPr/>
          <p:nvPr/>
        </p:nvSpPr>
        <p:spPr>
          <a:xfrm>
            <a:off x="2747665" y="1869877"/>
            <a:ext cx="1603549" cy="191244"/>
          </a:xfrm>
          <a:prstGeom prst="rect">
            <a:avLst/>
          </a:prstGeom>
          <a:noFill/>
          <a:ln/>
        </p:spPr>
        <p:txBody>
          <a:bodyPr wrap="none" lIns="0" tIns="0" rIns="0" bIns="0" rtlCol="0" anchor="t"/>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Monitor Profit</a:t>
            </a:r>
            <a:endParaRPr lang="en-US" sz="1200" dirty="0"/>
          </a:p>
        </p:txBody>
      </p:sp>
      <p:sp>
        <p:nvSpPr>
          <p:cNvPr id="8" name="Text 6"/>
          <p:cNvSpPr/>
          <p:nvPr/>
        </p:nvSpPr>
        <p:spPr>
          <a:xfrm>
            <a:off x="2747665" y="2143720"/>
            <a:ext cx="1603549" cy="440531"/>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Track profit and profit margin with focused KPIs.</a:t>
            </a:r>
            <a:endParaRPr lang="en-US" sz="1050" dirty="0"/>
          </a:p>
        </p:txBody>
      </p:sp>
      <p:sp>
        <p:nvSpPr>
          <p:cNvPr id="9" name="Shape 7"/>
          <p:cNvSpPr/>
          <p:nvPr/>
        </p:nvSpPr>
        <p:spPr>
          <a:xfrm>
            <a:off x="4640833" y="1717923"/>
            <a:ext cx="1907381" cy="1429792"/>
          </a:xfrm>
          <a:prstGeom prst="roundRect">
            <a:avLst>
              <a:gd name="adj" fmla="val 14445"/>
            </a:avLst>
          </a:prstGeom>
          <a:solidFill>
            <a:srgbClr val="0A081B"/>
          </a:solidFill>
          <a:ln w="14288">
            <a:solidFill>
              <a:srgbClr val="37A7E7"/>
            </a:solidFill>
            <a:prstDash val="solid"/>
          </a:ln>
        </p:spPr>
        <p:txBody>
          <a:bodyPr/>
          <a:lstStyle/>
          <a:p>
            <a:endParaRPr lang="en-US"/>
          </a:p>
        </p:txBody>
      </p:sp>
      <p:sp>
        <p:nvSpPr>
          <p:cNvPr id="10" name="Text 8"/>
          <p:cNvSpPr/>
          <p:nvPr/>
        </p:nvSpPr>
        <p:spPr>
          <a:xfrm>
            <a:off x="4792787" y="1869877"/>
            <a:ext cx="1603474" cy="382488"/>
          </a:xfrm>
          <a:prstGeom prst="rect">
            <a:avLst/>
          </a:prstGeom>
          <a:noFill/>
          <a:ln/>
        </p:spPr>
        <p:txBody>
          <a:bodyPr wrap="square" lIns="0" tIns="0" rIns="0" bIns="0" rtlCol="0" anchor="t">
            <a:normAutofit/>
          </a:bodyPr>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Track Products &amp; Quantity</a:t>
            </a:r>
            <a:endParaRPr lang="en-US" sz="1200" dirty="0"/>
          </a:p>
        </p:txBody>
      </p:sp>
      <p:sp>
        <p:nvSpPr>
          <p:cNvPr id="11" name="Text 9"/>
          <p:cNvSpPr/>
          <p:nvPr/>
        </p:nvSpPr>
        <p:spPr>
          <a:xfrm>
            <a:off x="4792787" y="2334964"/>
            <a:ext cx="1603474" cy="660797"/>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Identify top products, compare categories, and track quantities sold.</a:t>
            </a:r>
            <a:endParaRPr lang="en-US" sz="1050" dirty="0"/>
          </a:p>
        </p:txBody>
      </p:sp>
      <p:sp>
        <p:nvSpPr>
          <p:cNvPr id="12" name="Shape 10"/>
          <p:cNvSpPr/>
          <p:nvPr/>
        </p:nvSpPr>
        <p:spPr>
          <a:xfrm>
            <a:off x="6685880" y="1717923"/>
            <a:ext cx="1907456" cy="1429792"/>
          </a:xfrm>
          <a:prstGeom prst="roundRect">
            <a:avLst>
              <a:gd name="adj" fmla="val 14445"/>
            </a:avLst>
          </a:prstGeom>
          <a:solidFill>
            <a:srgbClr val="0A081B"/>
          </a:solidFill>
          <a:ln w="14288">
            <a:solidFill>
              <a:srgbClr val="091231"/>
            </a:solidFill>
            <a:prstDash val="solid"/>
          </a:ln>
        </p:spPr>
        <p:txBody>
          <a:bodyPr/>
          <a:lstStyle/>
          <a:p>
            <a:endParaRPr lang="en-US"/>
          </a:p>
        </p:txBody>
      </p:sp>
      <p:sp>
        <p:nvSpPr>
          <p:cNvPr id="13" name="Text 11"/>
          <p:cNvSpPr/>
          <p:nvPr/>
        </p:nvSpPr>
        <p:spPr>
          <a:xfrm>
            <a:off x="6837834" y="1869877"/>
            <a:ext cx="1603549" cy="191244"/>
          </a:xfrm>
          <a:prstGeom prst="rect">
            <a:avLst/>
          </a:prstGeom>
          <a:noFill/>
          <a:ln/>
        </p:spPr>
        <p:txBody>
          <a:bodyPr wrap="none" lIns="0" tIns="0" rIns="0" bIns="0" rtlCol="0" anchor="t"/>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Territory Comparison</a:t>
            </a:r>
            <a:endParaRPr lang="en-US" sz="1200" dirty="0"/>
          </a:p>
        </p:txBody>
      </p:sp>
      <p:sp>
        <p:nvSpPr>
          <p:cNvPr id="14" name="Text 12"/>
          <p:cNvSpPr/>
          <p:nvPr/>
        </p:nvSpPr>
        <p:spPr>
          <a:xfrm>
            <a:off x="6837834" y="2143720"/>
            <a:ext cx="1603549" cy="660797"/>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Compare performance across sales territories and regions.</a:t>
            </a:r>
            <a:endParaRPr lang="en-US" sz="1050" dirty="0"/>
          </a:p>
        </p:txBody>
      </p:sp>
      <p:sp>
        <p:nvSpPr>
          <p:cNvPr id="15" name="Shape 13"/>
          <p:cNvSpPr/>
          <p:nvPr/>
        </p:nvSpPr>
        <p:spPr>
          <a:xfrm>
            <a:off x="550664" y="3285381"/>
            <a:ext cx="8042672" cy="798016"/>
          </a:xfrm>
          <a:prstGeom prst="roundRect">
            <a:avLst>
              <a:gd name="adj" fmla="val 25880"/>
            </a:avLst>
          </a:prstGeom>
          <a:solidFill>
            <a:srgbClr val="0A081B"/>
          </a:solidFill>
          <a:ln w="14288">
            <a:solidFill>
              <a:srgbClr val="16FFBB"/>
            </a:solidFill>
            <a:prstDash val="solid"/>
          </a:ln>
        </p:spPr>
        <p:txBody>
          <a:bodyPr/>
          <a:lstStyle/>
          <a:p>
            <a:endParaRPr lang="en-US"/>
          </a:p>
        </p:txBody>
      </p:sp>
      <p:sp>
        <p:nvSpPr>
          <p:cNvPr id="16" name="Text 14"/>
          <p:cNvSpPr/>
          <p:nvPr/>
        </p:nvSpPr>
        <p:spPr>
          <a:xfrm>
            <a:off x="702618" y="3437334"/>
            <a:ext cx="7738765" cy="191244"/>
          </a:xfrm>
          <a:prstGeom prst="rect">
            <a:avLst/>
          </a:prstGeom>
          <a:noFill/>
          <a:ln/>
        </p:spPr>
        <p:txBody>
          <a:bodyPr wrap="none" lIns="0" tIns="0" rIns="0" bIns="0" rtlCol="0" anchor="t"/>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Interactive UX</a:t>
            </a:r>
            <a:endParaRPr lang="en-US" sz="1200" dirty="0"/>
          </a:p>
        </p:txBody>
      </p:sp>
      <p:sp>
        <p:nvSpPr>
          <p:cNvPr id="17" name="Text 15"/>
          <p:cNvSpPr/>
          <p:nvPr/>
        </p:nvSpPr>
        <p:spPr>
          <a:xfrm>
            <a:off x="702618" y="3711178"/>
            <a:ext cx="7738765" cy="220266"/>
          </a:xfrm>
          <a:prstGeom prst="rect">
            <a:avLst/>
          </a:prstGeom>
          <a:noFill/>
          <a:ln/>
        </p:spPr>
        <p:txBody>
          <a:bodyPr wrap="none" lIns="0" tIns="0" rIns="0" bIns="0" rtlCol="0" anchor="t"/>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Single-page dashboard with bookmark navigation for Sales, Quantity, and Profit.</a:t>
            </a:r>
            <a:endParaRPr lang="en-US" sz="1050" dirty="0"/>
          </a:p>
        </p:txBody>
      </p:sp>
      <p:pic>
        <p:nvPicPr>
          <p:cNvPr id="19" name="Picture 18">
            <a:extLst>
              <a:ext uri="{FF2B5EF4-FFF2-40B4-BE49-F238E27FC236}">
                <a16:creationId xmlns:a16="http://schemas.microsoft.com/office/drawing/2014/main" id="{2DBF39DA-4871-55BE-BA9C-0636F10624EC}"/>
              </a:ext>
            </a:extLst>
          </p:cNvPr>
          <p:cNvPicPr>
            <a:picLocks noChangeAspect="1"/>
          </p:cNvPicPr>
          <p:nvPr/>
        </p:nvPicPr>
        <p:blipFill>
          <a:blip r:embed="rId3"/>
          <a:stretch>
            <a:fillRect/>
          </a:stretch>
        </p:blipFill>
        <p:spPr>
          <a:xfrm>
            <a:off x="6981523" y="4409973"/>
            <a:ext cx="2162477" cy="7335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4765"/>
          </a:xfrm>
          <a:prstGeom prst="rect">
            <a:avLst/>
          </a:prstGeom>
        </p:spPr>
      </p:pic>
      <p:sp>
        <p:nvSpPr>
          <p:cNvPr id="3" name="Text 0"/>
          <p:cNvSpPr/>
          <p:nvPr/>
        </p:nvSpPr>
        <p:spPr>
          <a:xfrm>
            <a:off x="3979664" y="378619"/>
            <a:ext cx="4613672" cy="328613"/>
          </a:xfrm>
          <a:prstGeom prst="rect">
            <a:avLst/>
          </a:prstGeom>
          <a:noFill/>
          <a:ln/>
        </p:spPr>
        <p:txBody>
          <a:bodyPr wrap="none" lIns="0" tIns="0" rIns="0" bIns="0" rtlCol="0" anchor="t"/>
          <a:lstStyle/>
          <a:p>
            <a:pPr marL="0" indent="0" algn="l">
              <a:lnSpc>
                <a:spcPct val="104000"/>
              </a:lnSpc>
              <a:buNone/>
            </a:pPr>
            <a:r>
              <a:rPr lang="en-US" sz="2050" b="1" dirty="0">
                <a:solidFill>
                  <a:srgbClr val="F0FCFF"/>
                </a:solidFill>
                <a:latin typeface="Spline Sans Bold" pitchFamily="34" charset="0"/>
                <a:ea typeface="Spline Sans Bold" pitchFamily="34" charset="-122"/>
                <a:cs typeface="Spline Sans Bold" pitchFamily="34" charset="-120"/>
              </a:rPr>
              <a:t>Tech Stack</a:t>
            </a:r>
            <a:endParaRPr lang="en-US" sz="205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79664" y="859706"/>
            <a:ext cx="295796" cy="295796"/>
          </a:xfrm>
          <a:prstGeom prst="rect">
            <a:avLst/>
          </a:prstGeom>
        </p:spPr>
      </p:pic>
      <p:sp>
        <p:nvSpPr>
          <p:cNvPr id="5" name="Text 1"/>
          <p:cNvSpPr/>
          <p:nvPr/>
        </p:nvSpPr>
        <p:spPr>
          <a:xfrm>
            <a:off x="3979664" y="1282601"/>
            <a:ext cx="4613672" cy="164306"/>
          </a:xfrm>
          <a:prstGeom prst="rect">
            <a:avLst/>
          </a:prstGeom>
          <a:noFill/>
          <a:ln/>
        </p:spPr>
        <p:txBody>
          <a:bodyPr wrap="none" lIns="0" tIns="0" rIns="0" bIns="0" rtlCol="0" anchor="t"/>
          <a:lstStyle/>
          <a:p>
            <a:pPr marL="0" indent="0" algn="l">
              <a:lnSpc>
                <a:spcPct val="104000"/>
              </a:lnSpc>
              <a:buNone/>
            </a:pPr>
            <a:r>
              <a:rPr lang="en-US" sz="1000" b="1" dirty="0">
                <a:solidFill>
                  <a:srgbClr val="E0E4E6"/>
                </a:solidFill>
                <a:latin typeface="Spline Sans Bold" pitchFamily="34" charset="0"/>
                <a:ea typeface="Spline Sans Bold" pitchFamily="34" charset="-122"/>
                <a:cs typeface="Spline Sans Bold" pitchFamily="34" charset="-120"/>
              </a:rPr>
              <a:t>SQL Server</a:t>
            </a:r>
            <a:endParaRPr lang="en-US" sz="1000" dirty="0"/>
          </a:p>
        </p:txBody>
      </p:sp>
      <p:sp>
        <p:nvSpPr>
          <p:cNvPr id="6" name="Text 2"/>
          <p:cNvSpPr/>
          <p:nvPr/>
        </p:nvSpPr>
        <p:spPr>
          <a:xfrm>
            <a:off x="3979664" y="1507852"/>
            <a:ext cx="4613672" cy="175989"/>
          </a:xfrm>
          <a:prstGeom prst="rect">
            <a:avLst/>
          </a:prstGeom>
          <a:noFill/>
          <a:ln/>
        </p:spPr>
        <p:txBody>
          <a:bodyPr wrap="none" lIns="0" tIns="0" rIns="0" bIns="0" rtlCol="0" anchor="t"/>
          <a:lstStyle/>
          <a:p>
            <a:pPr marL="0" indent="0" algn="l">
              <a:lnSpc>
                <a:spcPct val="124000"/>
              </a:lnSpc>
              <a:buNone/>
            </a:pPr>
            <a:r>
              <a:rPr lang="en-US" sz="900" dirty="0">
                <a:solidFill>
                  <a:srgbClr val="E0E4E6"/>
                </a:solidFill>
                <a:latin typeface="Barlow" pitchFamily="34" charset="0"/>
                <a:ea typeface="Barlow" pitchFamily="34" charset="-122"/>
                <a:cs typeface="Barlow" pitchFamily="34" charset="-120"/>
              </a:rPr>
              <a:t>Data extraction, cleaning, and creation of vw_FactSalesAnalysis view in SSMS.</a:t>
            </a:r>
            <a:endParaRPr lang="en-US" sz="9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79664" y="1887141"/>
            <a:ext cx="295796" cy="295796"/>
          </a:xfrm>
          <a:prstGeom prst="rect">
            <a:avLst/>
          </a:prstGeom>
        </p:spPr>
      </p:pic>
      <p:sp>
        <p:nvSpPr>
          <p:cNvPr id="8" name="Text 3"/>
          <p:cNvSpPr/>
          <p:nvPr/>
        </p:nvSpPr>
        <p:spPr>
          <a:xfrm>
            <a:off x="3979664" y="2310036"/>
            <a:ext cx="4613672" cy="164306"/>
          </a:xfrm>
          <a:prstGeom prst="rect">
            <a:avLst/>
          </a:prstGeom>
          <a:noFill/>
          <a:ln/>
        </p:spPr>
        <p:txBody>
          <a:bodyPr wrap="none" lIns="0" tIns="0" rIns="0" bIns="0" rtlCol="0" anchor="t"/>
          <a:lstStyle/>
          <a:p>
            <a:pPr marL="0" indent="0" algn="l">
              <a:lnSpc>
                <a:spcPct val="104000"/>
              </a:lnSpc>
              <a:buNone/>
            </a:pPr>
            <a:r>
              <a:rPr lang="en-US" sz="1000" b="1" dirty="0">
                <a:solidFill>
                  <a:srgbClr val="E0E4E6"/>
                </a:solidFill>
                <a:latin typeface="Spline Sans Bold" pitchFamily="34" charset="0"/>
                <a:ea typeface="Spline Sans Bold" pitchFamily="34" charset="-122"/>
                <a:cs typeface="Spline Sans Bold" pitchFamily="34" charset="-120"/>
              </a:rPr>
              <a:t>Power Query</a:t>
            </a:r>
            <a:endParaRPr lang="en-US" sz="1000" dirty="0"/>
          </a:p>
        </p:txBody>
      </p:sp>
      <p:sp>
        <p:nvSpPr>
          <p:cNvPr id="9" name="Text 4"/>
          <p:cNvSpPr/>
          <p:nvPr/>
        </p:nvSpPr>
        <p:spPr>
          <a:xfrm>
            <a:off x="3979664" y="2535287"/>
            <a:ext cx="4613672" cy="175989"/>
          </a:xfrm>
          <a:prstGeom prst="rect">
            <a:avLst/>
          </a:prstGeom>
          <a:noFill/>
          <a:ln/>
        </p:spPr>
        <p:txBody>
          <a:bodyPr wrap="none" lIns="0" tIns="0" rIns="0" bIns="0" rtlCol="0" anchor="t"/>
          <a:lstStyle/>
          <a:p>
            <a:pPr marL="0" indent="0" algn="l">
              <a:lnSpc>
                <a:spcPct val="124000"/>
              </a:lnSpc>
              <a:buNone/>
            </a:pPr>
            <a:r>
              <a:rPr lang="en-US" sz="900" dirty="0">
                <a:solidFill>
                  <a:srgbClr val="E0E4E6"/>
                </a:solidFill>
                <a:latin typeface="Barlow" pitchFamily="34" charset="0"/>
                <a:ea typeface="Barlow" pitchFamily="34" charset="-122"/>
                <a:cs typeface="Barlow" pitchFamily="34" charset="-120"/>
              </a:rPr>
              <a:t>Transformations and Calendar table for time-based analysis.</a:t>
            </a:r>
            <a:endParaRPr lang="en-US" sz="9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79664" y="2914576"/>
            <a:ext cx="295796" cy="295796"/>
          </a:xfrm>
          <a:prstGeom prst="rect">
            <a:avLst/>
          </a:prstGeom>
        </p:spPr>
      </p:pic>
      <p:sp>
        <p:nvSpPr>
          <p:cNvPr id="11" name="Text 5"/>
          <p:cNvSpPr/>
          <p:nvPr/>
        </p:nvSpPr>
        <p:spPr>
          <a:xfrm>
            <a:off x="3979664" y="3337471"/>
            <a:ext cx="4613672" cy="164306"/>
          </a:xfrm>
          <a:prstGeom prst="rect">
            <a:avLst/>
          </a:prstGeom>
          <a:noFill/>
          <a:ln/>
        </p:spPr>
        <p:txBody>
          <a:bodyPr wrap="none" lIns="0" tIns="0" rIns="0" bIns="0" rtlCol="0" anchor="t"/>
          <a:lstStyle/>
          <a:p>
            <a:pPr marL="0" indent="0" algn="l">
              <a:lnSpc>
                <a:spcPct val="104000"/>
              </a:lnSpc>
              <a:buNone/>
            </a:pPr>
            <a:r>
              <a:rPr lang="en-US" sz="1000" b="1" dirty="0">
                <a:solidFill>
                  <a:srgbClr val="E0E4E6"/>
                </a:solidFill>
                <a:latin typeface="Spline Sans Bold" pitchFamily="34" charset="0"/>
                <a:ea typeface="Spline Sans Bold" pitchFamily="34" charset="-122"/>
                <a:cs typeface="Spline Sans Bold" pitchFamily="34" charset="-120"/>
              </a:rPr>
              <a:t>Power BI</a:t>
            </a:r>
            <a:endParaRPr lang="en-US" sz="1000" dirty="0"/>
          </a:p>
        </p:txBody>
      </p:sp>
      <p:sp>
        <p:nvSpPr>
          <p:cNvPr id="12" name="Text 6"/>
          <p:cNvSpPr/>
          <p:nvPr/>
        </p:nvSpPr>
        <p:spPr>
          <a:xfrm>
            <a:off x="3979664" y="3562722"/>
            <a:ext cx="4613672" cy="175989"/>
          </a:xfrm>
          <a:prstGeom prst="rect">
            <a:avLst/>
          </a:prstGeom>
          <a:noFill/>
          <a:ln/>
        </p:spPr>
        <p:txBody>
          <a:bodyPr wrap="none" lIns="0" tIns="0" rIns="0" bIns="0" rtlCol="0" anchor="t"/>
          <a:lstStyle/>
          <a:p>
            <a:pPr marL="0" indent="0" algn="l">
              <a:lnSpc>
                <a:spcPct val="124000"/>
              </a:lnSpc>
              <a:buNone/>
            </a:pPr>
            <a:r>
              <a:rPr lang="en-US" sz="900" dirty="0">
                <a:solidFill>
                  <a:srgbClr val="E0E4E6"/>
                </a:solidFill>
                <a:latin typeface="Barlow" pitchFamily="34" charset="0"/>
                <a:ea typeface="Barlow" pitchFamily="34" charset="-122"/>
                <a:cs typeface="Barlow" pitchFamily="34" charset="-120"/>
              </a:rPr>
              <a:t>Single-page interactive dashboard with bookmarks and dynamic title.</a:t>
            </a:r>
            <a:endParaRPr lang="en-US" sz="90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979664" y="3942011"/>
            <a:ext cx="295796" cy="295796"/>
          </a:xfrm>
          <a:prstGeom prst="rect">
            <a:avLst/>
          </a:prstGeom>
        </p:spPr>
      </p:pic>
      <p:sp>
        <p:nvSpPr>
          <p:cNvPr id="14" name="Text 7"/>
          <p:cNvSpPr/>
          <p:nvPr/>
        </p:nvSpPr>
        <p:spPr>
          <a:xfrm>
            <a:off x="3979664" y="4364906"/>
            <a:ext cx="4613672" cy="164306"/>
          </a:xfrm>
          <a:prstGeom prst="rect">
            <a:avLst/>
          </a:prstGeom>
          <a:noFill/>
          <a:ln/>
        </p:spPr>
        <p:txBody>
          <a:bodyPr wrap="none" lIns="0" tIns="0" rIns="0" bIns="0" rtlCol="0" anchor="t"/>
          <a:lstStyle/>
          <a:p>
            <a:pPr marL="0" indent="0" algn="l">
              <a:lnSpc>
                <a:spcPct val="104000"/>
              </a:lnSpc>
              <a:buNone/>
            </a:pPr>
            <a:r>
              <a:rPr lang="en-US" sz="1000" b="1" dirty="0">
                <a:solidFill>
                  <a:srgbClr val="E0E4E6"/>
                </a:solidFill>
                <a:latin typeface="Spline Sans Bold" pitchFamily="34" charset="0"/>
                <a:ea typeface="Spline Sans Bold" pitchFamily="34" charset="-122"/>
                <a:cs typeface="Spline Sans Bold" pitchFamily="34" charset="-120"/>
              </a:rPr>
              <a:t>DAX &amp; Git</a:t>
            </a:r>
            <a:endParaRPr lang="en-US" sz="1000" dirty="0"/>
          </a:p>
        </p:txBody>
      </p:sp>
      <p:sp>
        <p:nvSpPr>
          <p:cNvPr id="15" name="Text 8"/>
          <p:cNvSpPr/>
          <p:nvPr/>
        </p:nvSpPr>
        <p:spPr>
          <a:xfrm>
            <a:off x="3979664" y="4590157"/>
            <a:ext cx="4613672" cy="175989"/>
          </a:xfrm>
          <a:prstGeom prst="rect">
            <a:avLst/>
          </a:prstGeom>
          <a:noFill/>
          <a:ln/>
        </p:spPr>
        <p:txBody>
          <a:bodyPr wrap="none" lIns="0" tIns="0" rIns="0" bIns="0" rtlCol="0" anchor="t"/>
          <a:lstStyle/>
          <a:p>
            <a:pPr marL="0" indent="0" algn="l">
              <a:lnSpc>
                <a:spcPct val="124000"/>
              </a:lnSpc>
              <a:buNone/>
            </a:pPr>
            <a:r>
              <a:rPr lang="en-US" sz="900" dirty="0">
                <a:solidFill>
                  <a:srgbClr val="E0E4E6"/>
                </a:solidFill>
                <a:latin typeface="Barlow" pitchFamily="34" charset="0"/>
                <a:ea typeface="Barlow" pitchFamily="34" charset="-122"/>
                <a:cs typeface="Barlow" pitchFamily="34" charset="-120"/>
              </a:rPr>
              <a:t>DAX measures for KPIs; Git/GitHub used for version control.</a:t>
            </a:r>
            <a:endParaRPr lang="en-US" sz="900" dirty="0"/>
          </a:p>
        </p:txBody>
      </p:sp>
      <p:pic>
        <p:nvPicPr>
          <p:cNvPr id="17" name="Picture 16">
            <a:extLst>
              <a:ext uri="{FF2B5EF4-FFF2-40B4-BE49-F238E27FC236}">
                <a16:creationId xmlns:a16="http://schemas.microsoft.com/office/drawing/2014/main" id="{D8B4ED4F-AF54-2D45-D3AE-C6B78EBDE67B}"/>
              </a:ext>
            </a:extLst>
          </p:cNvPr>
          <p:cNvPicPr>
            <a:picLocks noChangeAspect="1"/>
          </p:cNvPicPr>
          <p:nvPr/>
        </p:nvPicPr>
        <p:blipFill>
          <a:blip r:embed="rId8"/>
          <a:stretch>
            <a:fillRect/>
          </a:stretch>
        </p:blipFill>
        <p:spPr>
          <a:xfrm>
            <a:off x="7072604" y="4398117"/>
            <a:ext cx="2026740" cy="7335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50664" y="881063"/>
            <a:ext cx="8042672" cy="382488"/>
          </a:xfrm>
          <a:prstGeom prst="rect">
            <a:avLst/>
          </a:prstGeom>
          <a:noFill/>
          <a:ln/>
        </p:spPr>
        <p:txBody>
          <a:bodyPr wrap="none" lIns="0" tIns="0" rIns="0" bIns="0" rtlCol="0" anchor="t"/>
          <a:lstStyle/>
          <a:p>
            <a:pPr marL="0" indent="0" algn="l">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Project Workflow</a:t>
            </a:r>
            <a:endParaRPr lang="en-US" sz="2400" dirty="0"/>
          </a:p>
        </p:txBody>
      </p:sp>
      <p:pic>
        <p:nvPicPr>
          <p:cNvPr id="3" name="Image 0" descr="preencoded.png"/>
          <p:cNvPicPr>
            <a:picLocks noChangeAspect="1"/>
          </p:cNvPicPr>
          <p:nvPr/>
        </p:nvPicPr>
        <p:blipFill>
          <a:blip r:embed="rId3"/>
          <a:stretch>
            <a:fillRect/>
          </a:stretch>
        </p:blipFill>
        <p:spPr>
          <a:xfrm>
            <a:off x="550664" y="1538883"/>
            <a:ext cx="8042672" cy="2128168"/>
          </a:xfrm>
          <a:prstGeom prst="rect">
            <a:avLst/>
          </a:prstGeom>
        </p:spPr>
      </p:pic>
      <p:sp>
        <p:nvSpPr>
          <p:cNvPr id="4" name="Text 1"/>
          <p:cNvSpPr/>
          <p:nvPr/>
        </p:nvSpPr>
        <p:spPr>
          <a:xfrm>
            <a:off x="1171004" y="2258458"/>
            <a:ext cx="1215742" cy="386986"/>
          </a:xfrm>
          <a:prstGeom prst="rect">
            <a:avLst/>
          </a:prstGeom>
          <a:noFill/>
          <a:ln/>
        </p:spPr>
        <p:txBody>
          <a:bodyPr wrap="square" lIns="0" tIns="0" rIns="0" bIns="0" rtlCol="0" anchor="t">
            <a:normAutofit/>
          </a:bodyPr>
          <a:lstStyle/>
          <a:p>
            <a:pPr marL="0" indent="0" algn="ctr">
              <a:lnSpc>
                <a:spcPct val="104000"/>
              </a:lnSpc>
              <a:buNone/>
            </a:pPr>
            <a:r>
              <a:rPr lang="en-US" sz="1200" b="1" dirty="0">
                <a:solidFill>
                  <a:srgbClr val="F0FCFF"/>
                </a:solidFill>
                <a:latin typeface="Spline Sans Bold" pitchFamily="34" charset="0"/>
                <a:ea typeface="Spline Sans Bold" pitchFamily="34" charset="-122"/>
                <a:cs typeface="Spline Sans Bold" pitchFamily="34" charset="-120"/>
              </a:rPr>
              <a:t>Database Exploration</a:t>
            </a:r>
            <a:endParaRPr lang="en-US" sz="1200" dirty="0"/>
          </a:p>
        </p:txBody>
      </p:sp>
      <p:sp>
        <p:nvSpPr>
          <p:cNvPr id="5" name="Text 2"/>
          <p:cNvSpPr/>
          <p:nvPr/>
        </p:nvSpPr>
        <p:spPr>
          <a:xfrm>
            <a:off x="1171004" y="2707362"/>
            <a:ext cx="1215742" cy="522432"/>
          </a:xfrm>
          <a:prstGeom prst="rect">
            <a:avLst/>
          </a:prstGeom>
          <a:noFill/>
          <a:ln/>
        </p:spPr>
        <p:txBody>
          <a:bodyPr wrap="square" lIns="0" tIns="0" rIns="0" bIns="0" rtlCol="0" anchor="t">
            <a:normAutofit/>
          </a:bodyPr>
          <a:lstStyle/>
          <a:p>
            <a:pPr marL="0" indent="0" algn="ctr">
              <a:lnSpc>
                <a:spcPct val="104000"/>
              </a:lnSpc>
              <a:buNone/>
            </a:pPr>
            <a:r>
              <a:rPr lang="en-US" sz="1050" dirty="0">
                <a:solidFill>
                  <a:srgbClr val="E0E4E6"/>
                </a:solidFill>
                <a:latin typeface="Barlow" pitchFamily="34" charset="0"/>
                <a:ea typeface="Barlow" pitchFamily="34" charset="-122"/>
                <a:cs typeface="Barlow" pitchFamily="34" charset="-120"/>
              </a:rPr>
              <a:t>Inspect AdventureWorks2019 tables</a:t>
            </a:r>
            <a:endParaRPr lang="en-US" sz="1050" dirty="0"/>
          </a:p>
        </p:txBody>
      </p:sp>
      <p:sp>
        <p:nvSpPr>
          <p:cNvPr id="6" name="Text 3"/>
          <p:cNvSpPr/>
          <p:nvPr/>
        </p:nvSpPr>
        <p:spPr>
          <a:xfrm>
            <a:off x="2564155" y="2343595"/>
            <a:ext cx="1215742" cy="193493"/>
          </a:xfrm>
          <a:prstGeom prst="rect">
            <a:avLst/>
          </a:prstGeom>
          <a:noFill/>
          <a:ln/>
        </p:spPr>
        <p:txBody>
          <a:bodyPr wrap="none" lIns="0" tIns="0" rIns="0" bIns="0" rtlCol="0" anchor="t"/>
          <a:lstStyle/>
          <a:p>
            <a:pPr marL="0" indent="0" algn="ctr">
              <a:lnSpc>
                <a:spcPct val="104000"/>
              </a:lnSpc>
              <a:buNone/>
            </a:pPr>
            <a:r>
              <a:rPr lang="en-US" sz="1200" b="1" dirty="0">
                <a:solidFill>
                  <a:srgbClr val="F0FCFF"/>
                </a:solidFill>
                <a:latin typeface="Spline Sans Bold" pitchFamily="34" charset="0"/>
                <a:ea typeface="Spline Sans Bold" pitchFamily="34" charset="-122"/>
                <a:cs typeface="Spline Sans Bold" pitchFamily="34" charset="-120"/>
              </a:rPr>
              <a:t>SQL Preparation</a:t>
            </a:r>
            <a:endParaRPr lang="en-US" sz="1200" dirty="0"/>
          </a:p>
        </p:txBody>
      </p:sp>
      <p:sp>
        <p:nvSpPr>
          <p:cNvPr id="7" name="Text 4"/>
          <p:cNvSpPr/>
          <p:nvPr/>
        </p:nvSpPr>
        <p:spPr>
          <a:xfrm>
            <a:off x="2564155" y="2599006"/>
            <a:ext cx="1215742" cy="348288"/>
          </a:xfrm>
          <a:prstGeom prst="rect">
            <a:avLst/>
          </a:prstGeom>
          <a:noFill/>
          <a:ln/>
        </p:spPr>
        <p:txBody>
          <a:bodyPr wrap="square" lIns="0" tIns="0" rIns="0" bIns="0" rtlCol="0" anchor="t">
            <a:normAutofit/>
          </a:bodyPr>
          <a:lstStyle/>
          <a:p>
            <a:pPr marL="0" indent="0" algn="ctr">
              <a:lnSpc>
                <a:spcPct val="104000"/>
              </a:lnSpc>
              <a:buNone/>
            </a:pPr>
            <a:r>
              <a:rPr lang="en-US" sz="1050" dirty="0">
                <a:solidFill>
                  <a:srgbClr val="E0E4E6"/>
                </a:solidFill>
                <a:latin typeface="Barlow" pitchFamily="34" charset="0"/>
                <a:ea typeface="Barlow" pitchFamily="34" charset="-122"/>
                <a:cs typeface="Barlow" pitchFamily="34" charset="-120"/>
              </a:rPr>
              <a:t>Create unified views for import</a:t>
            </a:r>
            <a:endParaRPr lang="en-US" sz="1050" dirty="0"/>
          </a:p>
        </p:txBody>
      </p:sp>
      <p:sp>
        <p:nvSpPr>
          <p:cNvPr id="8" name="Text 5"/>
          <p:cNvSpPr/>
          <p:nvPr/>
        </p:nvSpPr>
        <p:spPr>
          <a:xfrm>
            <a:off x="3957307" y="2258458"/>
            <a:ext cx="1215743" cy="386986"/>
          </a:xfrm>
          <a:prstGeom prst="rect">
            <a:avLst/>
          </a:prstGeom>
          <a:noFill/>
          <a:ln/>
        </p:spPr>
        <p:txBody>
          <a:bodyPr wrap="square" lIns="0" tIns="0" rIns="0" bIns="0" rtlCol="0" anchor="t">
            <a:normAutofit/>
          </a:bodyPr>
          <a:lstStyle/>
          <a:p>
            <a:pPr marL="0" indent="0" algn="ctr">
              <a:lnSpc>
                <a:spcPct val="104000"/>
              </a:lnSpc>
              <a:buNone/>
            </a:pPr>
            <a:r>
              <a:rPr lang="en-US" sz="1200" b="1" dirty="0">
                <a:solidFill>
                  <a:srgbClr val="F0FCFF"/>
                </a:solidFill>
                <a:latin typeface="Spline Sans Bold" pitchFamily="34" charset="0"/>
                <a:ea typeface="Spline Sans Bold" pitchFamily="34" charset="-122"/>
                <a:cs typeface="Spline Sans Bold" pitchFamily="34" charset="-120"/>
              </a:rPr>
              <a:t>Import to Power BI</a:t>
            </a:r>
            <a:endParaRPr lang="en-US" sz="1200" dirty="0"/>
          </a:p>
        </p:txBody>
      </p:sp>
      <p:sp>
        <p:nvSpPr>
          <p:cNvPr id="9" name="Text 6"/>
          <p:cNvSpPr/>
          <p:nvPr/>
        </p:nvSpPr>
        <p:spPr>
          <a:xfrm>
            <a:off x="3957307" y="2707362"/>
            <a:ext cx="1215743" cy="348288"/>
          </a:xfrm>
          <a:prstGeom prst="rect">
            <a:avLst/>
          </a:prstGeom>
          <a:noFill/>
          <a:ln/>
        </p:spPr>
        <p:txBody>
          <a:bodyPr wrap="square" lIns="0" tIns="0" rIns="0" bIns="0" rtlCol="0" anchor="t">
            <a:normAutofit/>
          </a:bodyPr>
          <a:lstStyle/>
          <a:p>
            <a:pPr marL="0" indent="0" algn="ctr">
              <a:lnSpc>
                <a:spcPct val="104000"/>
              </a:lnSpc>
              <a:buNone/>
            </a:pPr>
            <a:r>
              <a:rPr lang="en-US" sz="1050" dirty="0">
                <a:solidFill>
                  <a:srgbClr val="E0E4E6"/>
                </a:solidFill>
                <a:latin typeface="Barlow" pitchFamily="34" charset="0"/>
                <a:ea typeface="Barlow" pitchFamily="34" charset="-122"/>
                <a:cs typeface="Barlow" pitchFamily="34" charset="-120"/>
              </a:rPr>
              <a:t>Load views into the report file</a:t>
            </a:r>
            <a:endParaRPr lang="en-US" sz="1050" dirty="0"/>
          </a:p>
        </p:txBody>
      </p:sp>
      <p:sp>
        <p:nvSpPr>
          <p:cNvPr id="10" name="Text 7"/>
          <p:cNvSpPr/>
          <p:nvPr/>
        </p:nvSpPr>
        <p:spPr>
          <a:xfrm>
            <a:off x="5350458" y="2343595"/>
            <a:ext cx="1215742" cy="193493"/>
          </a:xfrm>
          <a:prstGeom prst="rect">
            <a:avLst/>
          </a:prstGeom>
          <a:noFill/>
          <a:ln/>
        </p:spPr>
        <p:txBody>
          <a:bodyPr wrap="none" lIns="0" tIns="0" rIns="0" bIns="0" rtlCol="0" anchor="t"/>
          <a:lstStyle/>
          <a:p>
            <a:pPr marL="0" indent="0" algn="ctr">
              <a:lnSpc>
                <a:spcPct val="104000"/>
              </a:lnSpc>
              <a:buNone/>
            </a:pPr>
            <a:r>
              <a:rPr lang="en-US" sz="1200" b="1" dirty="0">
                <a:solidFill>
                  <a:srgbClr val="F0FCFF"/>
                </a:solidFill>
                <a:latin typeface="Spline Sans Bold" pitchFamily="34" charset="0"/>
                <a:ea typeface="Spline Sans Bold" pitchFamily="34" charset="-122"/>
                <a:cs typeface="Spline Sans Bold" pitchFamily="34" charset="-120"/>
              </a:rPr>
              <a:t>Power Query</a:t>
            </a:r>
            <a:endParaRPr lang="en-US" sz="1200" dirty="0"/>
          </a:p>
        </p:txBody>
      </p:sp>
      <p:sp>
        <p:nvSpPr>
          <p:cNvPr id="11" name="Text 8"/>
          <p:cNvSpPr/>
          <p:nvPr/>
        </p:nvSpPr>
        <p:spPr>
          <a:xfrm>
            <a:off x="5350458" y="2599006"/>
            <a:ext cx="1215742" cy="348288"/>
          </a:xfrm>
          <a:prstGeom prst="rect">
            <a:avLst/>
          </a:prstGeom>
          <a:noFill/>
          <a:ln/>
        </p:spPr>
        <p:txBody>
          <a:bodyPr wrap="square" lIns="0" tIns="0" rIns="0" bIns="0" rtlCol="0" anchor="t">
            <a:normAutofit/>
          </a:bodyPr>
          <a:lstStyle/>
          <a:p>
            <a:pPr marL="0" indent="0" algn="ctr">
              <a:lnSpc>
                <a:spcPct val="104000"/>
              </a:lnSpc>
              <a:buNone/>
            </a:pPr>
            <a:r>
              <a:rPr lang="en-US" sz="1050" dirty="0">
                <a:solidFill>
                  <a:srgbClr val="E0E4E6"/>
                </a:solidFill>
                <a:latin typeface="Barlow" pitchFamily="34" charset="0"/>
                <a:ea typeface="Barlow" pitchFamily="34" charset="-122"/>
                <a:cs typeface="Barlow" pitchFamily="34" charset="-120"/>
              </a:rPr>
              <a:t>Transform data and add Calendar</a:t>
            </a:r>
            <a:endParaRPr lang="en-US" sz="1050" dirty="0"/>
          </a:p>
        </p:txBody>
      </p:sp>
      <p:sp>
        <p:nvSpPr>
          <p:cNvPr id="12" name="Text 9"/>
          <p:cNvSpPr/>
          <p:nvPr/>
        </p:nvSpPr>
        <p:spPr>
          <a:xfrm>
            <a:off x="6751350" y="2258458"/>
            <a:ext cx="1215742" cy="193493"/>
          </a:xfrm>
          <a:prstGeom prst="rect">
            <a:avLst/>
          </a:prstGeom>
          <a:noFill/>
          <a:ln/>
        </p:spPr>
        <p:txBody>
          <a:bodyPr wrap="none" lIns="0" tIns="0" rIns="0" bIns="0" rtlCol="0" anchor="t"/>
          <a:lstStyle/>
          <a:p>
            <a:pPr marL="0" indent="0" algn="ctr">
              <a:lnSpc>
                <a:spcPct val="104000"/>
              </a:lnSpc>
              <a:buNone/>
            </a:pPr>
            <a:r>
              <a:rPr lang="en-US" sz="1200" b="1" dirty="0">
                <a:solidFill>
                  <a:srgbClr val="F0FCFF"/>
                </a:solidFill>
                <a:latin typeface="Spline Sans Bold" pitchFamily="34" charset="0"/>
                <a:ea typeface="Spline Sans Bold" pitchFamily="34" charset="-122"/>
                <a:cs typeface="Spline Sans Bold" pitchFamily="34" charset="-120"/>
              </a:rPr>
              <a:t>Data Modeling</a:t>
            </a:r>
            <a:endParaRPr lang="en-US" sz="1200" dirty="0"/>
          </a:p>
        </p:txBody>
      </p:sp>
      <p:sp>
        <p:nvSpPr>
          <p:cNvPr id="13" name="Text 10"/>
          <p:cNvSpPr/>
          <p:nvPr/>
        </p:nvSpPr>
        <p:spPr>
          <a:xfrm>
            <a:off x="6751350" y="2513869"/>
            <a:ext cx="1215742" cy="348288"/>
          </a:xfrm>
          <a:prstGeom prst="rect">
            <a:avLst/>
          </a:prstGeom>
          <a:noFill/>
          <a:ln/>
        </p:spPr>
        <p:txBody>
          <a:bodyPr wrap="square" lIns="0" tIns="0" rIns="0" bIns="0" rtlCol="0" anchor="t">
            <a:normAutofit/>
          </a:bodyPr>
          <a:lstStyle/>
          <a:p>
            <a:pPr marL="0" indent="0" algn="ctr">
              <a:lnSpc>
                <a:spcPct val="104000"/>
              </a:lnSpc>
              <a:buNone/>
            </a:pPr>
            <a:r>
              <a:rPr lang="en-US" sz="1050" dirty="0">
                <a:solidFill>
                  <a:srgbClr val="E0E4E6"/>
                </a:solidFill>
                <a:latin typeface="Barlow" pitchFamily="34" charset="0"/>
                <a:ea typeface="Barlow" pitchFamily="34" charset="-122"/>
                <a:cs typeface="Barlow" pitchFamily="34" charset="-120"/>
              </a:rPr>
              <a:t>Define relationships and keys</a:t>
            </a:r>
            <a:endParaRPr lang="en-US" sz="1050" dirty="0"/>
          </a:p>
        </p:txBody>
      </p:sp>
      <p:sp>
        <p:nvSpPr>
          <p:cNvPr id="14" name="Text 11"/>
          <p:cNvSpPr/>
          <p:nvPr/>
        </p:nvSpPr>
        <p:spPr>
          <a:xfrm>
            <a:off x="550664" y="3821906"/>
            <a:ext cx="8042672" cy="440531"/>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This workflow traces the end-to-end process: explore AdventureWorks2019 tables, prepare a unified SQL view, import to Power BI, refine with Power Query, build relationships and model, create DAX KPIs, and assemble the single-page dashboard with bookmarks.</a:t>
            </a:r>
            <a:endParaRPr lang="en-US" sz="1050" dirty="0"/>
          </a:p>
        </p:txBody>
      </p:sp>
      <p:pic>
        <p:nvPicPr>
          <p:cNvPr id="16" name="Picture 15">
            <a:extLst>
              <a:ext uri="{FF2B5EF4-FFF2-40B4-BE49-F238E27FC236}">
                <a16:creationId xmlns:a16="http://schemas.microsoft.com/office/drawing/2014/main" id="{7CB04E41-AFA8-AF2F-C30C-EF0E370D1BF8}"/>
              </a:ext>
            </a:extLst>
          </p:cNvPr>
          <p:cNvPicPr>
            <a:picLocks noChangeAspect="1"/>
          </p:cNvPicPr>
          <p:nvPr/>
        </p:nvPicPr>
        <p:blipFill>
          <a:blip r:embed="rId4"/>
          <a:stretch>
            <a:fillRect/>
          </a:stretch>
        </p:blipFill>
        <p:spPr>
          <a:xfrm>
            <a:off x="6930647" y="4386626"/>
            <a:ext cx="2162477" cy="7335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50664" y="927125"/>
            <a:ext cx="8042672" cy="382488"/>
          </a:xfrm>
          <a:prstGeom prst="rect">
            <a:avLst/>
          </a:prstGeom>
          <a:noFill/>
          <a:ln/>
        </p:spPr>
        <p:txBody>
          <a:bodyPr wrap="none" lIns="0" tIns="0" rIns="0" bIns="0" rtlCol="0" anchor="t"/>
          <a:lstStyle/>
          <a:p>
            <a:pPr marL="0" indent="0" algn="l">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Dashboard Features</a:t>
            </a:r>
            <a:endParaRPr lang="en-US" sz="2400" dirty="0"/>
          </a:p>
        </p:txBody>
      </p:sp>
      <p:pic>
        <p:nvPicPr>
          <p:cNvPr id="3" name="Image 0" descr="preencoded.png"/>
          <p:cNvPicPr>
            <a:picLocks noChangeAspect="1"/>
          </p:cNvPicPr>
          <p:nvPr/>
        </p:nvPicPr>
        <p:blipFill>
          <a:blip r:embed="rId3"/>
          <a:stretch>
            <a:fillRect/>
          </a:stretch>
        </p:blipFill>
        <p:spPr>
          <a:xfrm>
            <a:off x="550664" y="1584945"/>
            <a:ext cx="545604" cy="337170"/>
          </a:xfrm>
          <a:prstGeom prst="rect">
            <a:avLst/>
          </a:prstGeom>
        </p:spPr>
      </p:pic>
      <p:sp>
        <p:nvSpPr>
          <p:cNvPr id="4" name="Text 1"/>
          <p:cNvSpPr/>
          <p:nvPr/>
        </p:nvSpPr>
        <p:spPr>
          <a:xfrm>
            <a:off x="1268313" y="1584945"/>
            <a:ext cx="1163985" cy="191244"/>
          </a:xfrm>
          <a:prstGeom prst="rect">
            <a:avLst/>
          </a:prstGeom>
          <a:noFill/>
          <a:ln/>
        </p:spPr>
        <p:txBody>
          <a:bodyPr wrap="none" lIns="0" tIns="0" rIns="0" bIns="0" rtlCol="0" anchor="t"/>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KPI Cards</a:t>
            </a:r>
            <a:endParaRPr lang="en-US" sz="1200" dirty="0"/>
          </a:p>
        </p:txBody>
      </p:sp>
      <p:sp>
        <p:nvSpPr>
          <p:cNvPr id="5" name="Text 2"/>
          <p:cNvSpPr/>
          <p:nvPr/>
        </p:nvSpPr>
        <p:spPr>
          <a:xfrm>
            <a:off x="1268313" y="1858789"/>
            <a:ext cx="1163985" cy="1762125"/>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Total Sales, Total Profit, Average Order Value, Profit Margin, Total Orders, Total Customers—dynamic and prominent.</a:t>
            </a:r>
            <a:endParaRPr lang="en-US" sz="1050" dirty="0"/>
          </a:p>
        </p:txBody>
      </p:sp>
      <p:pic>
        <p:nvPicPr>
          <p:cNvPr id="6" name="Image 1" descr="preencoded.png"/>
          <p:cNvPicPr>
            <a:picLocks noChangeAspect="1"/>
          </p:cNvPicPr>
          <p:nvPr/>
        </p:nvPicPr>
        <p:blipFill>
          <a:blip r:embed="rId4"/>
          <a:stretch>
            <a:fillRect/>
          </a:stretch>
        </p:blipFill>
        <p:spPr>
          <a:xfrm>
            <a:off x="2604343" y="1584945"/>
            <a:ext cx="545604" cy="337170"/>
          </a:xfrm>
          <a:prstGeom prst="rect">
            <a:avLst/>
          </a:prstGeom>
        </p:spPr>
      </p:pic>
      <p:sp>
        <p:nvSpPr>
          <p:cNvPr id="7" name="Text 3"/>
          <p:cNvSpPr/>
          <p:nvPr/>
        </p:nvSpPr>
        <p:spPr>
          <a:xfrm>
            <a:off x="3321993" y="1584945"/>
            <a:ext cx="1163985" cy="382488"/>
          </a:xfrm>
          <a:prstGeom prst="rect">
            <a:avLst/>
          </a:prstGeom>
          <a:noFill/>
          <a:ln/>
        </p:spPr>
        <p:txBody>
          <a:bodyPr wrap="square" lIns="0" tIns="0" rIns="0" bIns="0" rtlCol="0" anchor="t">
            <a:normAutofit/>
          </a:bodyPr>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Territory Analysis</a:t>
            </a:r>
            <a:endParaRPr lang="en-US" sz="1200" dirty="0"/>
          </a:p>
        </p:txBody>
      </p:sp>
      <p:sp>
        <p:nvSpPr>
          <p:cNvPr id="8" name="Text 4"/>
          <p:cNvSpPr/>
          <p:nvPr/>
        </p:nvSpPr>
        <p:spPr>
          <a:xfrm>
            <a:off x="3321993" y="2050033"/>
            <a:ext cx="1163985" cy="1101328"/>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Interactive bar charts to compare sales and profit by territory with cross-filtering.</a:t>
            </a:r>
            <a:endParaRPr lang="en-US" sz="1050" dirty="0"/>
          </a:p>
        </p:txBody>
      </p:sp>
      <p:pic>
        <p:nvPicPr>
          <p:cNvPr id="9" name="Image 2" descr="preencoded.png"/>
          <p:cNvPicPr>
            <a:picLocks noChangeAspect="1"/>
          </p:cNvPicPr>
          <p:nvPr/>
        </p:nvPicPr>
        <p:blipFill>
          <a:blip r:embed="rId5"/>
          <a:stretch>
            <a:fillRect/>
          </a:stretch>
        </p:blipFill>
        <p:spPr>
          <a:xfrm>
            <a:off x="4658023" y="1584945"/>
            <a:ext cx="545604" cy="337170"/>
          </a:xfrm>
          <a:prstGeom prst="rect">
            <a:avLst/>
          </a:prstGeom>
        </p:spPr>
      </p:pic>
      <p:sp>
        <p:nvSpPr>
          <p:cNvPr id="10" name="Text 5"/>
          <p:cNvSpPr/>
          <p:nvPr/>
        </p:nvSpPr>
        <p:spPr>
          <a:xfrm>
            <a:off x="5375672" y="1584945"/>
            <a:ext cx="1163985" cy="191244"/>
          </a:xfrm>
          <a:prstGeom prst="rect">
            <a:avLst/>
          </a:prstGeom>
          <a:noFill/>
          <a:ln/>
        </p:spPr>
        <p:txBody>
          <a:bodyPr wrap="none" lIns="0" tIns="0" rIns="0" bIns="0" rtlCol="0" anchor="t"/>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Top 10 Products</a:t>
            </a:r>
            <a:endParaRPr lang="en-US" sz="1200" dirty="0"/>
          </a:p>
        </p:txBody>
      </p:sp>
      <p:sp>
        <p:nvSpPr>
          <p:cNvPr id="11" name="Text 6"/>
          <p:cNvSpPr/>
          <p:nvPr/>
        </p:nvSpPr>
        <p:spPr>
          <a:xfrm>
            <a:off x="5375672" y="1858789"/>
            <a:ext cx="1163985" cy="1101328"/>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Top product ranking visual to identify best-selling and highest-profit items.</a:t>
            </a:r>
            <a:endParaRPr lang="en-US" sz="1050" dirty="0"/>
          </a:p>
        </p:txBody>
      </p:sp>
      <p:pic>
        <p:nvPicPr>
          <p:cNvPr id="12" name="Image 3" descr="preencoded.png"/>
          <p:cNvPicPr>
            <a:picLocks noChangeAspect="1"/>
          </p:cNvPicPr>
          <p:nvPr/>
        </p:nvPicPr>
        <p:blipFill>
          <a:blip r:embed="rId6"/>
          <a:stretch>
            <a:fillRect/>
          </a:stretch>
        </p:blipFill>
        <p:spPr>
          <a:xfrm>
            <a:off x="6711702" y="1584945"/>
            <a:ext cx="545604" cy="337170"/>
          </a:xfrm>
          <a:prstGeom prst="rect">
            <a:avLst/>
          </a:prstGeom>
        </p:spPr>
      </p:pic>
      <p:sp>
        <p:nvSpPr>
          <p:cNvPr id="13" name="Text 7"/>
          <p:cNvSpPr/>
          <p:nvPr/>
        </p:nvSpPr>
        <p:spPr>
          <a:xfrm>
            <a:off x="7429351" y="1584945"/>
            <a:ext cx="1163985" cy="191244"/>
          </a:xfrm>
          <a:prstGeom prst="rect">
            <a:avLst/>
          </a:prstGeom>
          <a:noFill/>
          <a:ln/>
        </p:spPr>
        <p:txBody>
          <a:bodyPr wrap="none" lIns="0" tIns="0" rIns="0" bIns="0" rtlCol="0" anchor="t"/>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Monthly Trends</a:t>
            </a:r>
            <a:endParaRPr lang="en-US" sz="1200" dirty="0"/>
          </a:p>
        </p:txBody>
      </p:sp>
      <p:sp>
        <p:nvSpPr>
          <p:cNvPr id="14" name="Text 8"/>
          <p:cNvSpPr/>
          <p:nvPr/>
        </p:nvSpPr>
        <p:spPr>
          <a:xfrm>
            <a:off x="7429351" y="1858789"/>
            <a:ext cx="1163985" cy="1101328"/>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Area charts for month-over-month analysis with Year and Color slicers for filtering.</a:t>
            </a:r>
            <a:endParaRPr lang="en-US" sz="1050" dirty="0"/>
          </a:p>
        </p:txBody>
      </p:sp>
      <p:sp>
        <p:nvSpPr>
          <p:cNvPr id="15" name="Text 9"/>
          <p:cNvSpPr/>
          <p:nvPr/>
        </p:nvSpPr>
        <p:spPr>
          <a:xfrm>
            <a:off x="550664" y="3775770"/>
            <a:ext cx="8042672" cy="440531"/>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Additional features: dynamic dashboard title, clear-filters button, bookmarks for Sales/Quantity/Profit, and cross-filtering between visuals for interactive exploration.</a:t>
            </a:r>
            <a:endParaRPr lang="en-US" sz="1050" dirty="0"/>
          </a:p>
        </p:txBody>
      </p:sp>
      <p:pic>
        <p:nvPicPr>
          <p:cNvPr id="17" name="Picture 16">
            <a:extLst>
              <a:ext uri="{FF2B5EF4-FFF2-40B4-BE49-F238E27FC236}">
                <a16:creationId xmlns:a16="http://schemas.microsoft.com/office/drawing/2014/main" id="{CE991E6B-FB34-5A01-849C-7EFC653949FB}"/>
              </a:ext>
            </a:extLst>
          </p:cNvPr>
          <p:cNvPicPr>
            <a:picLocks noChangeAspect="1"/>
          </p:cNvPicPr>
          <p:nvPr/>
        </p:nvPicPr>
        <p:blipFill>
          <a:blip r:embed="rId7"/>
          <a:stretch>
            <a:fillRect/>
          </a:stretch>
        </p:blipFill>
        <p:spPr>
          <a:xfrm>
            <a:off x="6981523" y="4388272"/>
            <a:ext cx="2162477" cy="7335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50664" y="546497"/>
            <a:ext cx="8042672" cy="382488"/>
          </a:xfrm>
          <a:prstGeom prst="rect">
            <a:avLst/>
          </a:prstGeom>
          <a:noFill/>
          <a:ln/>
        </p:spPr>
        <p:txBody>
          <a:bodyPr wrap="none" lIns="0" tIns="0" rIns="0" bIns="0" rtlCol="0" anchor="t"/>
          <a:lstStyle/>
          <a:p>
            <a:pPr marL="0" indent="0" algn="l">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Key Insights</a:t>
            </a:r>
            <a:endParaRPr lang="en-US" sz="24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0664" y="1204317"/>
            <a:ext cx="1907381" cy="2053530"/>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21755" y="1328142"/>
            <a:ext cx="165199" cy="165199"/>
          </a:xfrm>
          <a:prstGeom prst="rect">
            <a:avLst/>
          </a:prstGeom>
        </p:spPr>
      </p:pic>
      <p:sp>
        <p:nvSpPr>
          <p:cNvPr id="5" name="Text 1"/>
          <p:cNvSpPr/>
          <p:nvPr/>
        </p:nvSpPr>
        <p:spPr>
          <a:xfrm>
            <a:off x="707380" y="1754981"/>
            <a:ext cx="1593949" cy="191244"/>
          </a:xfrm>
          <a:prstGeom prst="rect">
            <a:avLst/>
          </a:prstGeom>
          <a:noFill/>
          <a:ln/>
        </p:spPr>
        <p:txBody>
          <a:bodyPr wrap="none" lIns="0" tIns="0" rIns="0" bIns="0" rtlCol="0" anchor="t"/>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$109.8M Total Sales</a:t>
            </a:r>
            <a:endParaRPr lang="en-US" sz="1200" dirty="0"/>
          </a:p>
        </p:txBody>
      </p:sp>
      <p:sp>
        <p:nvSpPr>
          <p:cNvPr id="6" name="Text 2"/>
          <p:cNvSpPr/>
          <p:nvPr/>
        </p:nvSpPr>
        <p:spPr>
          <a:xfrm>
            <a:off x="707380" y="2028825"/>
            <a:ext cx="1593949" cy="660797"/>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Comprehensive top-line sales generated across the dataset.</a:t>
            </a:r>
            <a:endParaRPr lang="en-US" sz="105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95711" y="1204317"/>
            <a:ext cx="1907456" cy="2053530"/>
          </a:xfrm>
          <a:prstGeom prst="rect">
            <a:avLst/>
          </a:prstGeom>
        </p:spPr>
      </p:pic>
      <p:pic>
        <p:nvPicPr>
          <p:cNvPr id="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66802" y="1328142"/>
            <a:ext cx="165199" cy="165199"/>
          </a:xfrm>
          <a:prstGeom prst="rect">
            <a:avLst/>
          </a:prstGeom>
        </p:spPr>
      </p:pic>
      <p:sp>
        <p:nvSpPr>
          <p:cNvPr id="9" name="Text 3"/>
          <p:cNvSpPr/>
          <p:nvPr/>
        </p:nvSpPr>
        <p:spPr>
          <a:xfrm>
            <a:off x="2752427" y="1754981"/>
            <a:ext cx="1594024" cy="191244"/>
          </a:xfrm>
          <a:prstGeom prst="rect">
            <a:avLst/>
          </a:prstGeom>
          <a:noFill/>
          <a:ln/>
        </p:spPr>
        <p:txBody>
          <a:bodyPr wrap="none" lIns="0" tIns="0" rIns="0" bIns="0" rtlCol="0" anchor="t"/>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$9.4M Total Profit</a:t>
            </a:r>
            <a:endParaRPr lang="en-US" sz="1200" dirty="0"/>
          </a:p>
        </p:txBody>
      </p:sp>
      <p:sp>
        <p:nvSpPr>
          <p:cNvPr id="10" name="Text 4"/>
          <p:cNvSpPr/>
          <p:nvPr/>
        </p:nvSpPr>
        <p:spPr>
          <a:xfrm>
            <a:off x="2752427" y="2028825"/>
            <a:ext cx="1594024" cy="660797"/>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Overall profit with an 8.5% profit margin—key for margin-focused decisions.</a:t>
            </a:r>
            <a:endParaRPr lang="en-US" sz="1050" dirty="0"/>
          </a:p>
        </p:txBody>
      </p:sp>
      <p:pic>
        <p:nvPicPr>
          <p:cNvPr id="1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40833" y="1204317"/>
            <a:ext cx="1907381" cy="2053530"/>
          </a:xfrm>
          <a:prstGeom prst="rect">
            <a:avLst/>
          </a:prstGeom>
        </p:spPr>
      </p:pic>
      <p:pic>
        <p:nvPicPr>
          <p:cNvPr id="1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11924" y="1328142"/>
            <a:ext cx="165199" cy="165199"/>
          </a:xfrm>
          <a:prstGeom prst="rect">
            <a:avLst/>
          </a:prstGeom>
        </p:spPr>
      </p:pic>
      <p:sp>
        <p:nvSpPr>
          <p:cNvPr id="13" name="Text 5"/>
          <p:cNvSpPr/>
          <p:nvPr/>
        </p:nvSpPr>
        <p:spPr>
          <a:xfrm>
            <a:off x="4797549" y="1754981"/>
            <a:ext cx="1593949" cy="382488"/>
          </a:xfrm>
          <a:prstGeom prst="rect">
            <a:avLst/>
          </a:prstGeom>
          <a:noFill/>
          <a:ln/>
        </p:spPr>
        <p:txBody>
          <a:bodyPr wrap="square" lIns="0" tIns="0" rIns="0" bIns="0" rtlCol="0" anchor="t">
            <a:normAutofit/>
          </a:bodyPr>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31.5K Orders • 19.1K Customers</a:t>
            </a:r>
            <a:endParaRPr lang="en-US" sz="1200" dirty="0"/>
          </a:p>
        </p:txBody>
      </p:sp>
      <p:sp>
        <p:nvSpPr>
          <p:cNvPr id="14" name="Text 6"/>
          <p:cNvSpPr/>
          <p:nvPr/>
        </p:nvSpPr>
        <p:spPr>
          <a:xfrm>
            <a:off x="4797549" y="2220069"/>
            <a:ext cx="1593949" cy="881063"/>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High transaction volume and substantial customer base underpin sales figures.</a:t>
            </a:r>
            <a:endParaRPr lang="en-US" sz="1050" dirty="0"/>
          </a:p>
        </p:txBody>
      </p:sp>
      <p:pic>
        <p:nvPicPr>
          <p:cNvPr id="15"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85880" y="1204317"/>
            <a:ext cx="1907456" cy="2053530"/>
          </a:xfrm>
          <a:prstGeom prst="rect">
            <a:avLst/>
          </a:prstGeom>
        </p:spPr>
      </p:pic>
      <p:pic>
        <p:nvPicPr>
          <p:cNvPr id="16"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556971" y="1328142"/>
            <a:ext cx="165199" cy="165199"/>
          </a:xfrm>
          <a:prstGeom prst="rect">
            <a:avLst/>
          </a:prstGeom>
        </p:spPr>
      </p:pic>
      <p:sp>
        <p:nvSpPr>
          <p:cNvPr id="17" name="Text 7"/>
          <p:cNvSpPr/>
          <p:nvPr/>
        </p:nvSpPr>
        <p:spPr>
          <a:xfrm>
            <a:off x="6842596" y="1754981"/>
            <a:ext cx="1594024" cy="191244"/>
          </a:xfrm>
          <a:prstGeom prst="rect">
            <a:avLst/>
          </a:prstGeom>
          <a:noFill/>
          <a:ln/>
        </p:spPr>
        <p:txBody>
          <a:bodyPr wrap="none" lIns="0" tIns="0" rIns="0" bIns="0" rtlCol="0" anchor="t"/>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Bikes Are Top Profit</a:t>
            </a:r>
            <a:endParaRPr lang="en-US" sz="1200" dirty="0"/>
          </a:p>
        </p:txBody>
      </p:sp>
      <p:sp>
        <p:nvSpPr>
          <p:cNvPr id="18" name="Text 8"/>
          <p:cNvSpPr/>
          <p:nvPr/>
        </p:nvSpPr>
        <p:spPr>
          <a:xfrm>
            <a:off x="6842596" y="2028825"/>
            <a:ext cx="1594024" cy="660797"/>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Product category analysis shows Bikes generated the highest profit.</a:t>
            </a:r>
            <a:endParaRPr lang="en-US" sz="1050" dirty="0"/>
          </a:p>
        </p:txBody>
      </p:sp>
      <p:pic>
        <p:nvPicPr>
          <p:cNvPr id="19"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50664" y="3395514"/>
            <a:ext cx="8042672" cy="1201489"/>
          </a:xfrm>
          <a:prstGeom prst="rect">
            <a:avLst/>
          </a:prstGeom>
        </p:spPr>
      </p:pic>
      <p:pic>
        <p:nvPicPr>
          <p:cNvPr id="20"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489400" y="3519339"/>
            <a:ext cx="165199" cy="165199"/>
          </a:xfrm>
          <a:prstGeom prst="rect">
            <a:avLst/>
          </a:prstGeom>
        </p:spPr>
      </p:pic>
      <p:sp>
        <p:nvSpPr>
          <p:cNvPr id="21" name="Text 9"/>
          <p:cNvSpPr/>
          <p:nvPr/>
        </p:nvSpPr>
        <p:spPr>
          <a:xfrm>
            <a:off x="707380" y="3946178"/>
            <a:ext cx="7729240" cy="191244"/>
          </a:xfrm>
          <a:prstGeom prst="rect">
            <a:avLst/>
          </a:prstGeom>
          <a:noFill/>
          <a:ln/>
        </p:spPr>
        <p:txBody>
          <a:bodyPr wrap="none" lIns="0" tIns="0" rIns="0" bIns="0" rtlCol="0" anchor="t"/>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Australia: Highest Profit Territory</a:t>
            </a:r>
            <a:endParaRPr lang="en-US" sz="1200" dirty="0"/>
          </a:p>
        </p:txBody>
      </p:sp>
      <p:sp>
        <p:nvSpPr>
          <p:cNvPr id="22" name="Text 10"/>
          <p:cNvSpPr/>
          <p:nvPr/>
        </p:nvSpPr>
        <p:spPr>
          <a:xfrm>
            <a:off x="707380" y="4220021"/>
            <a:ext cx="7729240" cy="220266"/>
          </a:xfrm>
          <a:prstGeom prst="rect">
            <a:avLst/>
          </a:prstGeom>
          <a:noFill/>
          <a:ln/>
        </p:spPr>
        <p:txBody>
          <a:bodyPr wrap="none" lIns="0" tIns="0" rIns="0" bIns="0" rtlCol="0" anchor="t"/>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Regional analysis reveals Australia as the most profitable territory.</a:t>
            </a:r>
            <a:endParaRPr lang="en-US" sz="1050" dirty="0"/>
          </a:p>
        </p:txBody>
      </p:sp>
      <p:pic>
        <p:nvPicPr>
          <p:cNvPr id="24" name="Picture 23">
            <a:extLst>
              <a:ext uri="{FF2B5EF4-FFF2-40B4-BE49-F238E27FC236}">
                <a16:creationId xmlns:a16="http://schemas.microsoft.com/office/drawing/2014/main" id="{A2A69BC4-DD93-3345-7F6B-DCDE1D4F95BD}"/>
              </a:ext>
            </a:extLst>
          </p:cNvPr>
          <p:cNvPicPr>
            <a:picLocks noChangeAspect="1"/>
          </p:cNvPicPr>
          <p:nvPr/>
        </p:nvPicPr>
        <p:blipFill>
          <a:blip r:embed="rId13"/>
          <a:stretch>
            <a:fillRect/>
          </a:stretch>
        </p:blipFill>
        <p:spPr>
          <a:xfrm>
            <a:off x="7556971" y="4734670"/>
            <a:ext cx="1587029" cy="3667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550664" y="1065833"/>
            <a:ext cx="4613672" cy="382488"/>
          </a:xfrm>
          <a:prstGeom prst="rect">
            <a:avLst/>
          </a:prstGeom>
          <a:noFill/>
          <a:ln/>
        </p:spPr>
        <p:txBody>
          <a:bodyPr wrap="none" lIns="0" tIns="0" rIns="0" bIns="0" rtlCol="0" anchor="t"/>
          <a:lstStyle/>
          <a:p>
            <a:pPr marL="0" indent="0" algn="l">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Project Structure &amp; How to Run</a:t>
            </a:r>
            <a:endParaRPr lang="en-US" sz="2400" dirty="0"/>
          </a:p>
        </p:txBody>
      </p:sp>
      <p:sp>
        <p:nvSpPr>
          <p:cNvPr id="4" name="Text 1"/>
          <p:cNvSpPr/>
          <p:nvPr/>
        </p:nvSpPr>
        <p:spPr>
          <a:xfrm>
            <a:off x="550664" y="1778719"/>
            <a:ext cx="2138883" cy="1665759"/>
          </a:xfrm>
          <a:prstGeom prst="rect">
            <a:avLst/>
          </a:prstGeom>
          <a:noFill/>
          <a:ln/>
        </p:spPr>
        <p:txBody>
          <a:bodyPr wrap="square" lIns="0" tIns="0" rIns="0" bIns="0" rtlCol="0" anchor="t"/>
          <a:lstStyle/>
          <a:p>
            <a:pPr marL="0" indent="0" algn="l">
              <a:lnSpc>
                <a:spcPct val="133000"/>
              </a:lnSpc>
              <a:spcAft>
                <a:spcPts val="950"/>
              </a:spcAft>
              <a:buNone/>
            </a:pPr>
            <a:r>
              <a:rPr lang="en-US" sz="1050" b="1" dirty="0">
                <a:solidFill>
                  <a:srgbClr val="E0E4E6"/>
                </a:solidFill>
                <a:latin typeface="Barlow Bold" pitchFamily="34" charset="0"/>
                <a:ea typeface="Barlow Bold" pitchFamily="34" charset="-122"/>
                <a:cs typeface="Barlow Bold" pitchFamily="34" charset="-120"/>
              </a:rPr>
              <a:t>Repository</a:t>
            </a:r>
            <a:endParaRPr lang="en-US" sz="1050" dirty="0"/>
          </a:p>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Sales Performance Analysis/ with folders: 0_Data Source, 1_SQL, 2_Python, 3_Power BI, 4_Presentation, 5_Images. Key files include 01_Create_View.sql and Dashboard.pbix.</a:t>
            </a:r>
            <a:endParaRPr lang="en-US" sz="1050" dirty="0"/>
          </a:p>
        </p:txBody>
      </p:sp>
      <p:sp>
        <p:nvSpPr>
          <p:cNvPr id="5" name="Text 2"/>
          <p:cNvSpPr/>
          <p:nvPr/>
        </p:nvSpPr>
        <p:spPr>
          <a:xfrm>
            <a:off x="3030215" y="1778719"/>
            <a:ext cx="2596083" cy="220266"/>
          </a:xfrm>
          <a:prstGeom prst="rect">
            <a:avLst/>
          </a:prstGeom>
          <a:noFill/>
          <a:ln/>
        </p:spPr>
        <p:txBody>
          <a:bodyPr wrap="none" lIns="0" tIns="0" rIns="0" bIns="0" rtlCol="0" anchor="t"/>
          <a:lstStyle/>
          <a:p>
            <a:pPr marL="0" indent="0" algn="l">
              <a:lnSpc>
                <a:spcPct val="133000"/>
              </a:lnSpc>
              <a:buNone/>
            </a:pPr>
            <a:r>
              <a:rPr lang="en-US" sz="1050" b="1" dirty="0">
                <a:solidFill>
                  <a:srgbClr val="E0E4E6"/>
                </a:solidFill>
                <a:latin typeface="Barlow Bold" pitchFamily="34" charset="0"/>
                <a:ea typeface="Barlow Bold" pitchFamily="34" charset="-122"/>
                <a:cs typeface="Barlow Bold" pitchFamily="34" charset="-120"/>
              </a:rPr>
              <a:t>Run Steps</a:t>
            </a:r>
            <a:endParaRPr lang="en-US" sz="1050" dirty="0"/>
          </a:p>
        </p:txBody>
      </p:sp>
      <p:sp>
        <p:nvSpPr>
          <p:cNvPr id="6" name="Text 3"/>
          <p:cNvSpPr/>
          <p:nvPr/>
        </p:nvSpPr>
        <p:spPr>
          <a:xfrm>
            <a:off x="3030215" y="2122884"/>
            <a:ext cx="2138883" cy="1906563"/>
          </a:xfrm>
          <a:prstGeom prst="rect">
            <a:avLst/>
          </a:prstGeom>
          <a:noFill/>
          <a:ln/>
        </p:spPr>
        <p:txBody>
          <a:bodyPr wrap="square" lIns="0" tIns="0" rIns="0" bIns="0" rtlCol="0" anchor="t">
            <a:normAutofit/>
          </a:bodyPr>
          <a:lstStyle/>
          <a:p>
            <a:pPr marL="213360" indent="-213360" algn="l">
              <a:lnSpc>
                <a:spcPct val="133000"/>
              </a:lnSpc>
              <a:buSzPct val="100000"/>
              <a:buFont typeface="+mj-lt"/>
              <a:buAutoNum type="arabicPeriod"/>
            </a:pPr>
            <a:r>
              <a:rPr lang="en-US" sz="1050" dirty="0">
                <a:solidFill>
                  <a:srgbClr val="E0E4E6"/>
                </a:solidFill>
                <a:latin typeface="Barlow" pitchFamily="34" charset="0"/>
                <a:ea typeface="Barlow" pitchFamily="34" charset="-122"/>
                <a:cs typeface="Barlow" pitchFamily="34" charset="-120"/>
              </a:rPr>
              <a:t>Restore AdventureWorks2019 in SQL Server.</a:t>
            </a:r>
            <a:endParaRPr lang="en-US" sz="1050" dirty="0"/>
          </a:p>
          <a:p>
            <a:pPr marL="213360" indent="-213360" algn="l">
              <a:lnSpc>
                <a:spcPct val="133000"/>
              </a:lnSpc>
              <a:buSzPct val="100000"/>
              <a:buFont typeface="+mj-lt"/>
              <a:buAutoNum type="arabicPeriod" startAt="2"/>
            </a:pPr>
            <a:r>
              <a:rPr lang="en-US" sz="1050" dirty="0">
                <a:solidFill>
                  <a:srgbClr val="E0E4E6"/>
                </a:solidFill>
                <a:latin typeface="Barlow" pitchFamily="34" charset="0"/>
                <a:ea typeface="Barlow" pitchFamily="34" charset="-122"/>
                <a:cs typeface="Barlow" pitchFamily="34" charset="-120"/>
              </a:rPr>
              <a:t>Execute SQL scripts to create vw_FactSalesAnalysis.</a:t>
            </a:r>
            <a:endParaRPr lang="en-US" sz="1050" dirty="0"/>
          </a:p>
          <a:p>
            <a:pPr marL="213360" indent="-213360" algn="l">
              <a:lnSpc>
                <a:spcPct val="133000"/>
              </a:lnSpc>
              <a:buSzPct val="100000"/>
              <a:buFont typeface="+mj-lt"/>
              <a:buAutoNum type="arabicPeriod" startAt="3"/>
            </a:pPr>
            <a:r>
              <a:rPr lang="en-US" sz="1050" dirty="0">
                <a:solidFill>
                  <a:srgbClr val="E0E4E6"/>
                </a:solidFill>
                <a:latin typeface="Barlow" pitchFamily="34" charset="0"/>
                <a:ea typeface="Barlow" pitchFamily="34" charset="-122"/>
                <a:cs typeface="Barlow" pitchFamily="34" charset="-120"/>
              </a:rPr>
              <a:t>Open the Power BI .pbix file and update connection if needed.</a:t>
            </a:r>
            <a:endParaRPr lang="en-US" sz="1050" dirty="0"/>
          </a:p>
          <a:p>
            <a:pPr marL="213360" indent="-213360" algn="l">
              <a:lnSpc>
                <a:spcPct val="133000"/>
              </a:lnSpc>
              <a:buSzPct val="100000"/>
              <a:buFont typeface="+mj-lt"/>
              <a:buAutoNum type="arabicPeriod" startAt="4"/>
            </a:pPr>
            <a:r>
              <a:rPr lang="en-US" sz="1050" dirty="0">
                <a:solidFill>
                  <a:srgbClr val="E0E4E6"/>
                </a:solidFill>
                <a:latin typeface="Barlow" pitchFamily="34" charset="0"/>
                <a:ea typeface="Barlow" pitchFamily="34" charset="-122"/>
                <a:cs typeface="Barlow" pitchFamily="34" charset="-120"/>
              </a:rPr>
              <a:t>Refresh data and explore bookmarks and slicers.</a:t>
            </a:r>
            <a:endParaRPr lang="en-US" sz="1050" dirty="0"/>
          </a:p>
        </p:txBody>
      </p:sp>
      <p:pic>
        <p:nvPicPr>
          <p:cNvPr id="8" name="Picture 7">
            <a:extLst>
              <a:ext uri="{FF2B5EF4-FFF2-40B4-BE49-F238E27FC236}">
                <a16:creationId xmlns:a16="http://schemas.microsoft.com/office/drawing/2014/main" id="{242F7D5C-A065-3834-FC0B-B429017BB3B4}"/>
              </a:ext>
            </a:extLst>
          </p:cNvPr>
          <p:cNvPicPr>
            <a:picLocks noChangeAspect="1"/>
          </p:cNvPicPr>
          <p:nvPr/>
        </p:nvPicPr>
        <p:blipFill>
          <a:blip r:embed="rId3"/>
          <a:stretch>
            <a:fillRect/>
          </a:stretch>
        </p:blipFill>
        <p:spPr>
          <a:xfrm>
            <a:off x="5164336" y="0"/>
            <a:ext cx="3979664"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3979664" y="921023"/>
            <a:ext cx="4613672" cy="382488"/>
          </a:xfrm>
          <a:prstGeom prst="rect">
            <a:avLst/>
          </a:prstGeom>
          <a:noFill/>
          <a:ln/>
        </p:spPr>
        <p:txBody>
          <a:bodyPr wrap="none" lIns="0" tIns="0" rIns="0" bIns="0" rtlCol="0" anchor="t"/>
          <a:lstStyle/>
          <a:p>
            <a:pPr marL="0" indent="0" algn="l">
              <a:lnSpc>
                <a:spcPct val="104000"/>
              </a:lnSpc>
              <a:buNone/>
            </a:pPr>
            <a:r>
              <a:rPr lang="en-US" sz="2400" b="1" dirty="0">
                <a:solidFill>
                  <a:srgbClr val="F0FCFF"/>
                </a:solidFill>
                <a:latin typeface="Spline Sans Bold" pitchFamily="34" charset="0"/>
                <a:ea typeface="Spline Sans Bold" pitchFamily="34" charset="-122"/>
                <a:cs typeface="Spline Sans Bold" pitchFamily="34" charset="-120"/>
              </a:rPr>
              <a:t>Author &amp; Next Steps</a:t>
            </a:r>
            <a:endParaRPr lang="en-US" sz="2400" dirty="0"/>
          </a:p>
        </p:txBody>
      </p:sp>
      <p:sp>
        <p:nvSpPr>
          <p:cNvPr id="4" name="Text 1"/>
          <p:cNvSpPr/>
          <p:nvPr/>
        </p:nvSpPr>
        <p:spPr>
          <a:xfrm>
            <a:off x="3979664" y="1510010"/>
            <a:ext cx="4613672" cy="440531"/>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Author: Nour. GitHub: https://github.com/nour-1928. LinkedIn: https://www.linkedin.com/in/noureldeenmohammad</a:t>
            </a:r>
            <a:endParaRPr lang="en-US" sz="1050" dirty="0"/>
          </a:p>
        </p:txBody>
      </p:sp>
      <p:sp>
        <p:nvSpPr>
          <p:cNvPr id="5" name="Shape 2"/>
          <p:cNvSpPr/>
          <p:nvPr/>
        </p:nvSpPr>
        <p:spPr>
          <a:xfrm>
            <a:off x="3979664" y="2105397"/>
            <a:ext cx="550664" cy="989707"/>
          </a:xfrm>
          <a:prstGeom prst="roundRect">
            <a:avLst>
              <a:gd name="adj" fmla="val 360049"/>
            </a:avLst>
          </a:prstGeom>
          <a:solidFill>
            <a:srgbClr val="0A081B"/>
          </a:solidFill>
          <a:ln w="14288">
            <a:solidFill>
              <a:srgbClr val="16FFBB"/>
            </a:solidFill>
            <a:prstDash val="solid"/>
          </a:ln>
        </p:spPr>
        <p:txBody>
          <a:bodyPr/>
          <a:lstStyle/>
          <a:p>
            <a:endParaRPr lang="en-US"/>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51709" y="2496964"/>
            <a:ext cx="206499" cy="206499"/>
          </a:xfrm>
          <a:prstGeom prst="rect">
            <a:avLst/>
          </a:prstGeom>
        </p:spPr>
      </p:pic>
      <p:sp>
        <p:nvSpPr>
          <p:cNvPr id="7" name="Text 3"/>
          <p:cNvSpPr/>
          <p:nvPr/>
        </p:nvSpPr>
        <p:spPr>
          <a:xfrm>
            <a:off x="4667994" y="2243063"/>
            <a:ext cx="3925342" cy="191244"/>
          </a:xfrm>
          <a:prstGeom prst="rect">
            <a:avLst/>
          </a:prstGeom>
          <a:noFill/>
          <a:ln/>
        </p:spPr>
        <p:txBody>
          <a:bodyPr wrap="none" lIns="0" tIns="0" rIns="0" bIns="0" rtlCol="0" anchor="t"/>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Deliverables</a:t>
            </a:r>
            <a:endParaRPr lang="en-US" sz="1200" dirty="0"/>
          </a:p>
        </p:txBody>
      </p:sp>
      <p:sp>
        <p:nvSpPr>
          <p:cNvPr id="8" name="Text 4"/>
          <p:cNvSpPr/>
          <p:nvPr/>
        </p:nvSpPr>
        <p:spPr>
          <a:xfrm>
            <a:off x="4667994" y="2516907"/>
            <a:ext cx="3925342" cy="440531"/>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Interactive single-page Power BI dashboard (.pbix), SQL scripts, documentation, and visual assets.</a:t>
            </a:r>
            <a:endParaRPr lang="en-US" sz="1050" dirty="0"/>
          </a:p>
        </p:txBody>
      </p:sp>
      <p:sp>
        <p:nvSpPr>
          <p:cNvPr id="9" name="Shape 5"/>
          <p:cNvSpPr/>
          <p:nvPr/>
        </p:nvSpPr>
        <p:spPr>
          <a:xfrm>
            <a:off x="3979664" y="3232770"/>
            <a:ext cx="550664" cy="989707"/>
          </a:xfrm>
          <a:prstGeom prst="roundRect">
            <a:avLst>
              <a:gd name="adj" fmla="val 360049"/>
            </a:avLst>
          </a:prstGeom>
          <a:solidFill>
            <a:srgbClr val="0A081B"/>
          </a:solidFill>
          <a:ln w="14288">
            <a:solidFill>
              <a:srgbClr val="29DDDA"/>
            </a:solidFill>
            <a:prstDash val="solid"/>
          </a:ln>
        </p:spPr>
        <p:txBody>
          <a:bodyPr/>
          <a:lstStyle/>
          <a:p>
            <a:endParaRPr lang="en-US"/>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51709" y="3624337"/>
            <a:ext cx="206499" cy="206499"/>
          </a:xfrm>
          <a:prstGeom prst="rect">
            <a:avLst/>
          </a:prstGeom>
        </p:spPr>
      </p:pic>
      <p:sp>
        <p:nvSpPr>
          <p:cNvPr id="11" name="Text 6"/>
          <p:cNvSpPr/>
          <p:nvPr/>
        </p:nvSpPr>
        <p:spPr>
          <a:xfrm>
            <a:off x="4667994" y="3370436"/>
            <a:ext cx="3925342" cy="191244"/>
          </a:xfrm>
          <a:prstGeom prst="rect">
            <a:avLst/>
          </a:prstGeom>
          <a:noFill/>
          <a:ln/>
        </p:spPr>
        <p:txBody>
          <a:bodyPr wrap="none" lIns="0" tIns="0" rIns="0" bIns="0" rtlCol="0" anchor="t"/>
          <a:lstStyle/>
          <a:p>
            <a:pPr marL="0" indent="0" algn="l">
              <a:lnSpc>
                <a:spcPct val="104000"/>
              </a:lnSpc>
              <a:buNone/>
            </a:pPr>
            <a:r>
              <a:rPr lang="en-US" sz="1200" b="1" dirty="0">
                <a:solidFill>
                  <a:srgbClr val="E0E4E6"/>
                </a:solidFill>
                <a:latin typeface="Spline Sans Bold" pitchFamily="34" charset="0"/>
                <a:ea typeface="Spline Sans Bold" pitchFamily="34" charset="-122"/>
                <a:cs typeface="Spline Sans Bold" pitchFamily="34" charset="-120"/>
              </a:rPr>
              <a:t>Recommended Next Steps</a:t>
            </a:r>
            <a:endParaRPr lang="en-US" sz="1200" dirty="0"/>
          </a:p>
        </p:txBody>
      </p:sp>
      <p:sp>
        <p:nvSpPr>
          <p:cNvPr id="12" name="Text 7"/>
          <p:cNvSpPr/>
          <p:nvPr/>
        </p:nvSpPr>
        <p:spPr>
          <a:xfrm>
            <a:off x="4667994" y="3644280"/>
            <a:ext cx="3925342" cy="440531"/>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0E4E6"/>
                </a:solidFill>
                <a:latin typeface="Barlow" pitchFamily="34" charset="0"/>
                <a:ea typeface="Barlow" pitchFamily="34" charset="-122"/>
                <a:cs typeface="Barlow" pitchFamily="34" charset="-120"/>
              </a:rPr>
              <a:t>Schedule stakeholder walkthroughs, add automated refresh, extend KPIs, and version the PBIX in GitHub for collaboration.</a:t>
            </a:r>
            <a:endParaRPr lang="en-US" sz="1050" dirty="0"/>
          </a:p>
        </p:txBody>
      </p:sp>
      <p:pic>
        <p:nvPicPr>
          <p:cNvPr id="14" name="Picture 13">
            <a:extLst>
              <a:ext uri="{FF2B5EF4-FFF2-40B4-BE49-F238E27FC236}">
                <a16:creationId xmlns:a16="http://schemas.microsoft.com/office/drawing/2014/main" id="{D8E8F3ED-E977-E29E-8D9A-A0EC9C25CDC8}"/>
              </a:ext>
            </a:extLst>
          </p:cNvPr>
          <p:cNvPicPr>
            <a:picLocks noChangeAspect="1"/>
          </p:cNvPicPr>
          <p:nvPr/>
        </p:nvPicPr>
        <p:blipFill>
          <a:blip r:embed="rId5"/>
          <a:stretch>
            <a:fillRect/>
          </a:stretch>
        </p:blipFill>
        <p:spPr>
          <a:xfrm>
            <a:off x="0" y="4908"/>
            <a:ext cx="3841998" cy="1747138"/>
          </a:xfrm>
          <a:prstGeom prst="rect">
            <a:avLst/>
          </a:prstGeom>
        </p:spPr>
      </p:pic>
      <p:pic>
        <p:nvPicPr>
          <p:cNvPr id="16" name="Picture 15">
            <a:extLst>
              <a:ext uri="{FF2B5EF4-FFF2-40B4-BE49-F238E27FC236}">
                <a16:creationId xmlns:a16="http://schemas.microsoft.com/office/drawing/2014/main" id="{108FD94F-A11D-50D9-EA2E-94E56265186A}"/>
              </a:ext>
            </a:extLst>
          </p:cNvPr>
          <p:cNvPicPr>
            <a:picLocks noChangeAspect="1"/>
          </p:cNvPicPr>
          <p:nvPr/>
        </p:nvPicPr>
        <p:blipFill>
          <a:blip r:embed="rId6"/>
          <a:stretch>
            <a:fillRect/>
          </a:stretch>
        </p:blipFill>
        <p:spPr>
          <a:xfrm>
            <a:off x="0" y="1863603"/>
            <a:ext cx="3841998" cy="1747138"/>
          </a:xfrm>
          <a:prstGeom prst="rect">
            <a:avLst/>
          </a:prstGeom>
        </p:spPr>
      </p:pic>
      <p:pic>
        <p:nvPicPr>
          <p:cNvPr id="18" name="Picture 17">
            <a:extLst>
              <a:ext uri="{FF2B5EF4-FFF2-40B4-BE49-F238E27FC236}">
                <a16:creationId xmlns:a16="http://schemas.microsoft.com/office/drawing/2014/main" id="{1ED84629-19C3-1707-43AA-5B8E95E51571}"/>
              </a:ext>
            </a:extLst>
          </p:cNvPr>
          <p:cNvPicPr>
            <a:picLocks noChangeAspect="1"/>
          </p:cNvPicPr>
          <p:nvPr/>
        </p:nvPicPr>
        <p:blipFill>
          <a:blip r:embed="rId7"/>
          <a:stretch>
            <a:fillRect/>
          </a:stretch>
        </p:blipFill>
        <p:spPr>
          <a:xfrm>
            <a:off x="2013" y="3722299"/>
            <a:ext cx="3839986" cy="1416296"/>
          </a:xfrm>
          <a:prstGeom prst="rect">
            <a:avLst/>
          </a:prstGeom>
        </p:spPr>
      </p:pic>
      <p:pic>
        <p:nvPicPr>
          <p:cNvPr id="20" name="Picture 19">
            <a:extLst>
              <a:ext uri="{FF2B5EF4-FFF2-40B4-BE49-F238E27FC236}">
                <a16:creationId xmlns:a16="http://schemas.microsoft.com/office/drawing/2014/main" id="{592F08D8-4395-4425-466E-44B2328AE8CB}"/>
              </a:ext>
            </a:extLst>
          </p:cNvPr>
          <p:cNvPicPr>
            <a:picLocks noChangeAspect="1"/>
          </p:cNvPicPr>
          <p:nvPr/>
        </p:nvPicPr>
        <p:blipFill>
          <a:blip r:embed="rId8"/>
          <a:stretch>
            <a:fillRect/>
          </a:stretch>
        </p:blipFill>
        <p:spPr>
          <a:xfrm>
            <a:off x="6911986" y="4344806"/>
            <a:ext cx="2162477" cy="73352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99C381-609C-6CD0-4A58-F783F66033BA}"/>
              </a:ext>
            </a:extLst>
          </p:cNvPr>
          <p:cNvSpPr txBox="1"/>
          <p:nvPr/>
        </p:nvSpPr>
        <p:spPr>
          <a:xfrm>
            <a:off x="2957803" y="1590681"/>
            <a:ext cx="3150637" cy="923330"/>
          </a:xfrm>
          <a:prstGeom prst="rect">
            <a:avLst/>
          </a:prstGeom>
          <a:noFill/>
        </p:spPr>
        <p:txBody>
          <a:bodyPr wrap="square" rtlCol="0">
            <a:spAutoFit/>
          </a:bodyPr>
          <a:lstStyle/>
          <a:p>
            <a:r>
              <a:rPr lang="en-US" sz="5400" dirty="0">
                <a:solidFill>
                  <a:schemeClr val="bg1"/>
                </a:solidFill>
                <a:latin typeface="Bangers" pitchFamily="2" charset="0"/>
              </a:rPr>
              <a:t>Thank You</a:t>
            </a:r>
          </a:p>
        </p:txBody>
      </p:sp>
      <p:pic>
        <p:nvPicPr>
          <p:cNvPr id="4" name="Graphic 3" descr="Rose with solid fill">
            <a:extLst>
              <a:ext uri="{FF2B5EF4-FFF2-40B4-BE49-F238E27FC236}">
                <a16:creationId xmlns:a16="http://schemas.microsoft.com/office/drawing/2014/main" id="{F647E2E6-1934-B98E-ECF4-7A62DA8DABD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65984" y="2711709"/>
            <a:ext cx="914400" cy="914400"/>
          </a:xfrm>
          <a:prstGeom prst="rect">
            <a:avLst/>
          </a:prstGeom>
        </p:spPr>
      </p:pic>
      <p:pic>
        <p:nvPicPr>
          <p:cNvPr id="6" name="Picture 5">
            <a:extLst>
              <a:ext uri="{FF2B5EF4-FFF2-40B4-BE49-F238E27FC236}">
                <a16:creationId xmlns:a16="http://schemas.microsoft.com/office/drawing/2014/main" id="{B3BF3801-34CE-647C-40AA-37E5F9E67D9F}"/>
              </a:ext>
            </a:extLst>
          </p:cNvPr>
          <p:cNvPicPr>
            <a:picLocks noChangeAspect="1"/>
          </p:cNvPicPr>
          <p:nvPr/>
        </p:nvPicPr>
        <p:blipFill>
          <a:blip r:embed="rId3"/>
          <a:stretch>
            <a:fillRect/>
          </a:stretch>
        </p:blipFill>
        <p:spPr>
          <a:xfrm>
            <a:off x="6936867" y="4409973"/>
            <a:ext cx="2162477" cy="733527"/>
          </a:xfrm>
          <a:prstGeom prst="rect">
            <a:avLst/>
          </a:prstGeom>
        </p:spPr>
      </p:pic>
    </p:spTree>
    <p:extLst>
      <p:ext uri="{BB962C8B-B14F-4D97-AF65-F5344CB8AC3E}">
        <p14:creationId xmlns:p14="http://schemas.microsoft.com/office/powerpoint/2010/main" val="4090217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711</Words>
  <Application>Microsoft Office PowerPoint</Application>
  <PresentationFormat>On-screen Show (16:9)</PresentationFormat>
  <Paragraphs>84</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Bangers</vt:lpstr>
      <vt:lpstr>Arial</vt:lpstr>
      <vt:lpstr>Barlow</vt:lpstr>
      <vt:lpstr>Barlow Bold</vt:lpstr>
      <vt:lpstr>Spline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احمد محمود ابو المجد</cp:lastModifiedBy>
  <cp:revision>2</cp:revision>
  <dcterms:created xsi:type="dcterms:W3CDTF">2026-07-10T15:10:36Z</dcterms:created>
  <dcterms:modified xsi:type="dcterms:W3CDTF">2026-07-10T15:43:17Z</dcterms:modified>
</cp:coreProperties>
</file>